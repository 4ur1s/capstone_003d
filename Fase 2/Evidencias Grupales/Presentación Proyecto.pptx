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charset="1" panose="00000500000000000000"/>
      <p:regular r:id="rId20"/>
    </p:embeddedFont>
    <p:embeddedFont>
      <p:font typeface="Glacial Indifference Bold" charset="1" panose="00000800000000000000"/>
      <p:regular r:id="rId21"/>
    </p:embeddedFont>
    <p:embeddedFont>
      <p:font typeface="Montserrat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6.jpe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jpeg" Type="http://schemas.openxmlformats.org/officeDocument/2006/relationships/image"/><Relationship Id="rId7" Target="../media/image5.jpeg" Type="http://schemas.openxmlformats.org/officeDocument/2006/relationships/image"/><Relationship Id="rId8" Target="../media/image11.jpe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14.jpeg" Type="http://schemas.openxmlformats.org/officeDocument/2006/relationships/image"/><Relationship Id="rId8" Target="../media/image15.jpeg" Type="http://schemas.openxmlformats.org/officeDocument/2006/relationships/image"/><Relationship Id="rId9"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jpeg" Type="http://schemas.openxmlformats.org/officeDocument/2006/relationships/image"/><Relationship Id="rId7" Target="../media/image5.jpeg" Type="http://schemas.openxmlformats.org/officeDocument/2006/relationships/image"/><Relationship Id="rId8" Target="../media/image18.pn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9.png" Type="http://schemas.openxmlformats.org/officeDocument/2006/relationships/image"/><Relationship Id="rId7" Target="../media/image5.jpeg" Type="http://schemas.openxmlformats.org/officeDocument/2006/relationships/image"/><Relationship Id="rId8" Target="../media/image20.png" Type="http://schemas.openxmlformats.org/officeDocument/2006/relationships/image"/><Relationship Id="rId9"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2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2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6.png" Type="http://schemas.openxmlformats.org/officeDocument/2006/relationships/image"/><Relationship Id="rId7" Target="../media/image5.jpeg" Type="http://schemas.openxmlformats.org/officeDocument/2006/relationships/image"/><Relationship Id="rId8" Target="../media/image2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png" Type="http://schemas.openxmlformats.org/officeDocument/2006/relationships/image"/><Relationship Id="rId12" Target="../media/image40.png" Type="http://schemas.openxmlformats.org/officeDocument/2006/relationships/image"/><Relationship Id="rId2" Target="../media/image35.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 Id="rId8" Target="../media/image36.png" Type="http://schemas.openxmlformats.org/officeDocument/2006/relationships/image"/><Relationship Id="rId9" Target="../media/image3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41.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 Id="rId8" Target="../media/image42.pn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822152" y="-4182949"/>
            <a:ext cx="8344335" cy="8229600"/>
          </a:xfrm>
          <a:custGeom>
            <a:avLst/>
            <a:gdLst/>
            <a:ahLst/>
            <a:cxnLst/>
            <a:rect r="r" b="b" t="t" l="l"/>
            <a:pathLst>
              <a:path h="8229600" w="8344335">
                <a:moveTo>
                  <a:pt x="0" y="0"/>
                </a:moveTo>
                <a:lnTo>
                  <a:pt x="8344335" y="0"/>
                </a:lnTo>
                <a:lnTo>
                  <a:pt x="8344335" y="8229600"/>
                </a:lnTo>
                <a:lnTo>
                  <a:pt x="0" y="8229600"/>
                </a:lnTo>
                <a:lnTo>
                  <a:pt x="0" y="0"/>
                </a:lnTo>
                <a:close/>
              </a:path>
            </a:pathLst>
          </a:custGeom>
          <a:blipFill>
            <a:blip r:embed="rId6">
              <a:alphaModFix amt="5000"/>
            </a:blip>
            <a:stretch>
              <a:fillRect l="0" t="0" r="0" b="0"/>
            </a:stretch>
          </a:blipFill>
        </p:spPr>
      </p:sp>
      <p:grpSp>
        <p:nvGrpSpPr>
          <p:cNvPr name="Group 5" id="5"/>
          <p:cNvGrpSpPr/>
          <p:nvPr/>
        </p:nvGrpSpPr>
        <p:grpSpPr>
          <a:xfrm rot="0">
            <a:off x="8854915" y="0"/>
            <a:ext cx="6269544" cy="10287000"/>
            <a:chOff x="0" y="0"/>
            <a:chExt cx="8359392" cy="13716000"/>
          </a:xfrm>
        </p:grpSpPr>
        <p:pic>
          <p:nvPicPr>
            <p:cNvPr name="Picture 6" id="6"/>
            <p:cNvPicPr>
              <a:picLocks noChangeAspect="true"/>
            </p:cNvPicPr>
            <p:nvPr/>
          </p:nvPicPr>
          <p:blipFill>
            <a:blip r:embed="rId7"/>
            <a:srcRect l="22779" t="0" r="36615" b="0"/>
            <a:stretch>
              <a:fillRect/>
            </a:stretch>
          </p:blipFill>
          <p:spPr>
            <a:xfrm flipH="false" flipV="false">
              <a:off x="0" y="0"/>
              <a:ext cx="8359392" cy="13716000"/>
            </a:xfrm>
            <a:prstGeom prst="rect">
              <a:avLst/>
            </a:prstGeom>
          </p:spPr>
        </p:pic>
      </p:grpSp>
      <p:sp>
        <p:nvSpPr>
          <p:cNvPr name="Freeform 7" id="7"/>
          <p:cNvSpPr/>
          <p:nvPr/>
        </p:nvSpPr>
        <p:spPr>
          <a:xfrm flipH="false" flipV="false" rot="0">
            <a:off x="1934770" y="9277350"/>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6">
              <a:alphaModFix amt="5000"/>
            </a:blip>
            <a:stretch>
              <a:fillRect l="0" t="0" r="0" b="0"/>
            </a:stretch>
          </a:blipFill>
        </p:spPr>
      </p:sp>
      <p:sp>
        <p:nvSpPr>
          <p:cNvPr name="Freeform 8" id="8"/>
          <p:cNvSpPr/>
          <p:nvPr/>
        </p:nvSpPr>
        <p:spPr>
          <a:xfrm flipH="false" flipV="false" rot="0">
            <a:off x="-209536" y="8416406"/>
            <a:ext cx="1756883" cy="1976802"/>
          </a:xfrm>
          <a:custGeom>
            <a:avLst/>
            <a:gdLst/>
            <a:ahLst/>
            <a:cxnLst/>
            <a:rect r="r" b="b" t="t" l="l"/>
            <a:pathLst>
              <a:path h="1976802" w="1756883">
                <a:moveTo>
                  <a:pt x="0" y="0"/>
                </a:moveTo>
                <a:lnTo>
                  <a:pt x="1756883" y="0"/>
                </a:lnTo>
                <a:lnTo>
                  <a:pt x="1756883" y="1976802"/>
                </a:lnTo>
                <a:lnTo>
                  <a:pt x="0" y="19768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511416" y="-989210"/>
            <a:ext cx="2859498" cy="2859498"/>
          </a:xfrm>
          <a:custGeom>
            <a:avLst/>
            <a:gdLst/>
            <a:ahLst/>
            <a:cxnLst/>
            <a:rect r="r" b="b" t="t" l="l"/>
            <a:pathLst>
              <a:path h="2859498" w="2859498">
                <a:moveTo>
                  <a:pt x="0" y="0"/>
                </a:moveTo>
                <a:lnTo>
                  <a:pt x="2859498" y="0"/>
                </a:lnTo>
                <a:lnTo>
                  <a:pt x="2859498" y="2859499"/>
                </a:lnTo>
                <a:lnTo>
                  <a:pt x="0" y="2859499"/>
                </a:lnTo>
                <a:lnTo>
                  <a:pt x="0" y="0"/>
                </a:lnTo>
                <a:close/>
              </a:path>
            </a:pathLst>
          </a:custGeom>
          <a:blipFill>
            <a:blip r:embed="rId10"/>
            <a:stretch>
              <a:fillRect l="0" t="0" r="0" b="0"/>
            </a:stretch>
          </a:blipFill>
        </p:spPr>
      </p:sp>
      <p:sp>
        <p:nvSpPr>
          <p:cNvPr name="TextBox 10" id="10"/>
          <p:cNvSpPr txBox="true"/>
          <p:nvPr/>
        </p:nvSpPr>
        <p:spPr>
          <a:xfrm rot="0">
            <a:off x="1114425" y="6373720"/>
            <a:ext cx="7415106" cy="727710"/>
          </a:xfrm>
          <a:prstGeom prst="rect">
            <a:avLst/>
          </a:prstGeom>
        </p:spPr>
        <p:txBody>
          <a:bodyPr anchor="t" rtlCol="false" tIns="0" lIns="0" bIns="0" rIns="0">
            <a:spAutoFit/>
          </a:bodyPr>
          <a:lstStyle/>
          <a:p>
            <a:pPr algn="l">
              <a:lnSpc>
                <a:spcPts val="2940"/>
              </a:lnSpc>
            </a:pPr>
            <a:r>
              <a:rPr lang="en-US" sz="2100" spc="890">
                <a:solidFill>
                  <a:srgbClr val="1D1D1D"/>
                </a:solidFill>
                <a:latin typeface="Montserrat"/>
                <a:ea typeface="Montserrat"/>
                <a:cs typeface="Montserrat"/>
                <a:sym typeface="Montserrat"/>
              </a:rPr>
              <a:t>PLATAFORMA WEB PARA ESTUDIO GUIADO DE AJEDREZ</a:t>
            </a:r>
          </a:p>
        </p:txBody>
      </p:sp>
      <p:sp>
        <p:nvSpPr>
          <p:cNvPr name="TextBox 11" id="11"/>
          <p:cNvSpPr txBox="true"/>
          <p:nvPr/>
        </p:nvSpPr>
        <p:spPr>
          <a:xfrm rot="0">
            <a:off x="1547347" y="1012421"/>
            <a:ext cx="6274805" cy="4892678"/>
          </a:xfrm>
          <a:prstGeom prst="rect">
            <a:avLst/>
          </a:prstGeom>
        </p:spPr>
        <p:txBody>
          <a:bodyPr anchor="t" rtlCol="false" tIns="0" lIns="0" bIns="0" rIns="0">
            <a:spAutoFit/>
          </a:bodyPr>
          <a:lstStyle/>
          <a:p>
            <a:pPr algn="l">
              <a:lnSpc>
                <a:spcPts val="19599"/>
              </a:lnSpc>
            </a:pPr>
            <a:r>
              <a:rPr lang="en-US" sz="13999" b="true">
                <a:solidFill>
                  <a:srgbClr val="1D1D1D"/>
                </a:solidFill>
                <a:latin typeface="Glacial Indifference Bold"/>
                <a:ea typeface="Glacial Indifference Bold"/>
                <a:cs typeface="Glacial Indifference Bold"/>
                <a:sym typeface="Glacial Indifference Bold"/>
              </a:rPr>
              <a:t>STUDY CHESS</a:t>
            </a:r>
          </a:p>
        </p:txBody>
      </p:sp>
      <p:sp>
        <p:nvSpPr>
          <p:cNvPr name="TextBox 12" id="12"/>
          <p:cNvSpPr txBox="true"/>
          <p:nvPr/>
        </p:nvSpPr>
        <p:spPr>
          <a:xfrm rot="0">
            <a:off x="1028700" y="7162800"/>
            <a:ext cx="5559022" cy="147065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Autor: Bruno Salvador Rojo Chávez - Rafael Ancalipe.</a:t>
            </a:r>
          </a:p>
          <a:p>
            <a:pPr algn="l">
              <a:lnSpc>
                <a:spcPts val="2940"/>
              </a:lnSpc>
            </a:pPr>
            <a:r>
              <a:rPr lang="en-US" sz="2100">
                <a:solidFill>
                  <a:srgbClr val="1D1D1D"/>
                </a:solidFill>
                <a:latin typeface="Montserrat"/>
                <a:ea typeface="Montserrat"/>
                <a:cs typeface="Montserrat"/>
                <a:sym typeface="Montserrat"/>
              </a:rPr>
              <a:t>Ingeniería en Informática, DUOC UC</a:t>
            </a:r>
          </a:p>
          <a:p>
            <a:pPr algn="l">
              <a:lnSpc>
                <a:spcPts val="2940"/>
              </a:lnSpc>
            </a:pPr>
            <a:r>
              <a:rPr lang="en-US" sz="2100">
                <a:solidFill>
                  <a:srgbClr val="1D1D1D"/>
                </a:solidFill>
                <a:latin typeface="Montserrat"/>
                <a:ea typeface="Montserrat"/>
                <a:cs typeface="Montserrat"/>
                <a:sym typeface="Montserrat"/>
              </a:rPr>
              <a:t>Fecha: 14-09-2025</a:t>
            </a:r>
          </a:p>
        </p:txBody>
      </p:sp>
      <p:sp>
        <p:nvSpPr>
          <p:cNvPr name="TextBox 13" id="13"/>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sp>
        <p:nvSpPr>
          <p:cNvPr name="TextBox 14" id="14"/>
          <p:cNvSpPr txBox="true"/>
          <p:nvPr/>
        </p:nvSpPr>
        <p:spPr>
          <a:xfrm rot="-5400000">
            <a:off x="15023783" y="7022783"/>
            <a:ext cx="4114800" cy="356235"/>
          </a:xfrm>
          <a:prstGeom prst="rect">
            <a:avLst/>
          </a:prstGeom>
        </p:spPr>
        <p:txBody>
          <a:bodyPr anchor="t" rtlCol="false" tIns="0" lIns="0" bIns="0" rIns="0">
            <a:spAutoFit/>
          </a:bodyPr>
          <a:lstStyle/>
          <a:p>
            <a:pPr algn="l">
              <a:lnSpc>
                <a:spcPts val="2940"/>
              </a:lnSpc>
            </a:pPr>
            <a:r>
              <a:rPr lang="en-US" sz="2100" spc="273">
                <a:solidFill>
                  <a:srgbClr val="1D1D1D"/>
                </a:solidFill>
                <a:latin typeface="Montserrat"/>
                <a:ea typeface="Montserrat"/>
                <a:cs typeface="Montserrat"/>
                <a:sym typeface="Montserrat"/>
              </a:rPr>
              <a:t>https://www.duoc.cl/</a:t>
            </a:r>
          </a:p>
        </p:txBody>
      </p:sp>
      <p:sp>
        <p:nvSpPr>
          <p:cNvPr name="TextBox 15" id="15"/>
          <p:cNvSpPr txBox="true"/>
          <p:nvPr/>
        </p:nvSpPr>
        <p:spPr>
          <a:xfrm rot="-5400000">
            <a:off x="16357021" y="2056348"/>
            <a:ext cx="1448257" cy="356169"/>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56883" y="6511291"/>
            <a:ext cx="7207510" cy="3775709"/>
            <a:chOff x="0" y="0"/>
            <a:chExt cx="9610013" cy="5034279"/>
          </a:xfrm>
        </p:grpSpPr>
        <p:pic>
          <p:nvPicPr>
            <p:cNvPr name="Picture 5" id="5"/>
            <p:cNvPicPr>
              <a:picLocks noChangeAspect="true"/>
            </p:cNvPicPr>
            <p:nvPr/>
          </p:nvPicPr>
          <p:blipFill>
            <a:blip r:embed="rId6"/>
            <a:srcRect l="11673" t="53182" r="29246" b="365"/>
            <a:stretch>
              <a:fillRect/>
            </a:stretch>
          </p:blipFill>
          <p:spPr>
            <a:xfrm flipH="false" flipV="false">
              <a:off x="0" y="0"/>
              <a:ext cx="9610013" cy="5034279"/>
            </a:xfrm>
            <a:prstGeom prst="rect">
              <a:avLst/>
            </a:prstGeom>
          </p:spPr>
        </p:pic>
      </p:grpSp>
      <p:sp>
        <p:nvSpPr>
          <p:cNvPr name="Freeform 6" id="6"/>
          <p:cNvSpPr/>
          <p:nvPr/>
        </p:nvSpPr>
        <p:spPr>
          <a:xfrm flipH="false" flipV="false" rot="0">
            <a:off x="6492905" y="-6195193"/>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7">
              <a:alphaModFix amt="5000"/>
            </a:blip>
            <a:stretch>
              <a:fillRect l="0" t="0" r="0" b="0"/>
            </a:stretch>
          </a:blipFill>
        </p:spPr>
      </p:sp>
      <p:grpSp>
        <p:nvGrpSpPr>
          <p:cNvPr name="Group 7" id="7"/>
          <p:cNvGrpSpPr/>
          <p:nvPr/>
        </p:nvGrpSpPr>
        <p:grpSpPr>
          <a:xfrm rot="0">
            <a:off x="10058893" y="0"/>
            <a:ext cx="5790785" cy="4953536"/>
            <a:chOff x="0" y="0"/>
            <a:chExt cx="7721047" cy="6604715"/>
          </a:xfrm>
        </p:grpSpPr>
        <p:pic>
          <p:nvPicPr>
            <p:cNvPr name="Picture 8" id="8"/>
            <p:cNvPicPr>
              <a:picLocks noChangeAspect="true"/>
            </p:cNvPicPr>
            <p:nvPr/>
          </p:nvPicPr>
          <p:blipFill>
            <a:blip r:embed="rId8"/>
            <a:srcRect l="1172" t="0" r="21088" b="0"/>
            <a:stretch>
              <a:fillRect/>
            </a:stretch>
          </p:blipFill>
          <p:spPr>
            <a:xfrm flipH="false" flipV="false">
              <a:off x="0" y="0"/>
              <a:ext cx="7721047" cy="6604715"/>
            </a:xfrm>
            <a:prstGeom prst="rect">
              <a:avLst/>
            </a:prstGeom>
          </p:spPr>
        </p:pic>
      </p:grpSp>
      <p:sp>
        <p:nvSpPr>
          <p:cNvPr name="Freeform 9" id="9"/>
          <p:cNvSpPr/>
          <p:nvPr/>
        </p:nvSpPr>
        <p:spPr>
          <a:xfrm flipH="false" flipV="false" rot="0">
            <a:off x="10058893" y="5694915"/>
            <a:ext cx="450325" cy="415425"/>
          </a:xfrm>
          <a:custGeom>
            <a:avLst/>
            <a:gdLst/>
            <a:ahLst/>
            <a:cxnLst/>
            <a:rect r="r" b="b" t="t" l="l"/>
            <a:pathLst>
              <a:path h="415425" w="450325">
                <a:moveTo>
                  <a:pt x="0" y="0"/>
                </a:moveTo>
                <a:lnTo>
                  <a:pt x="450325" y="0"/>
                </a:lnTo>
                <a:lnTo>
                  <a:pt x="450325" y="415425"/>
                </a:lnTo>
                <a:lnTo>
                  <a:pt x="0" y="4154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058893" y="7698540"/>
            <a:ext cx="450325" cy="415425"/>
          </a:xfrm>
          <a:custGeom>
            <a:avLst/>
            <a:gdLst/>
            <a:ahLst/>
            <a:cxnLst/>
            <a:rect r="r" b="b" t="t" l="l"/>
            <a:pathLst>
              <a:path h="415425" w="450325">
                <a:moveTo>
                  <a:pt x="0" y="0"/>
                </a:moveTo>
                <a:lnTo>
                  <a:pt x="450325" y="0"/>
                </a:lnTo>
                <a:lnTo>
                  <a:pt x="450325" y="415425"/>
                </a:lnTo>
                <a:lnTo>
                  <a:pt x="0" y="4154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Game</a:t>
            </a:r>
          </a:p>
        </p:txBody>
      </p:sp>
      <p:sp>
        <p:nvSpPr>
          <p:cNvPr name="TextBox 12" id="12"/>
          <p:cNvSpPr txBox="true"/>
          <p:nvPr/>
        </p:nvSpPr>
        <p:spPr>
          <a:xfrm rot="-5400000">
            <a:off x="15023750" y="7022816"/>
            <a:ext cx="4114800" cy="356169"/>
          </a:xfrm>
          <a:prstGeom prst="rect">
            <a:avLst/>
          </a:prstGeom>
        </p:spPr>
        <p:txBody>
          <a:bodyPr anchor="t" rtlCol="false" tIns="0" lIns="0" bIns="0" rIns="0">
            <a:spAutoFit/>
          </a:bodyPr>
          <a:lstStyle/>
          <a:p>
            <a:pPr algn="l">
              <a:lnSpc>
                <a:spcPts val="2940"/>
              </a:lnSpc>
            </a:pPr>
            <a:r>
              <a:rPr lang="en-US" sz="2100" spc="273">
                <a:solidFill>
                  <a:srgbClr val="1D1D1D"/>
                </a:solidFill>
                <a:latin typeface="Montserrat"/>
                <a:ea typeface="Montserrat"/>
                <a:cs typeface="Montserrat"/>
                <a:sym typeface="Montserrat"/>
              </a:rPr>
              <a:t>reallygreatsite.com</a:t>
            </a:r>
          </a:p>
        </p:txBody>
      </p:sp>
      <p:sp>
        <p:nvSpPr>
          <p:cNvPr name="TextBox 13" id="13"/>
          <p:cNvSpPr txBox="true"/>
          <p:nvPr/>
        </p:nvSpPr>
        <p:spPr>
          <a:xfrm rot="-5400000">
            <a:off x="16357021" y="2056348"/>
            <a:ext cx="1448257" cy="356169"/>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02</a:t>
            </a:r>
          </a:p>
        </p:txBody>
      </p:sp>
      <p:sp>
        <p:nvSpPr>
          <p:cNvPr name="TextBox 14" id="14"/>
          <p:cNvSpPr txBox="true"/>
          <p:nvPr/>
        </p:nvSpPr>
        <p:spPr>
          <a:xfrm rot="0">
            <a:off x="1756008" y="3848086"/>
            <a:ext cx="7207510" cy="1842134"/>
          </a:xfrm>
          <a:prstGeom prst="rect">
            <a:avLst/>
          </a:prstGeom>
        </p:spPr>
        <p:txBody>
          <a:bodyPr anchor="t" rtlCol="false" tIns="0" lIns="0" bIns="0" rIns="0">
            <a:spAutoFit/>
          </a:bodyPr>
          <a:lstStyle/>
          <a:p>
            <a:pPr algn="l" marL="453395" indent="-226697" lvl="1">
              <a:lnSpc>
                <a:spcPts val="2940"/>
              </a:lnSpc>
              <a:buFont typeface="Arial"/>
              <a:buChar char="•"/>
            </a:pPr>
            <a:r>
              <a:rPr lang="en-US" sz="2100">
                <a:solidFill>
                  <a:srgbClr val="1D1D1D"/>
                </a:solidFill>
                <a:latin typeface="Montserrat"/>
                <a:ea typeface="Montserrat"/>
                <a:cs typeface="Montserrat"/>
                <a:sym typeface="Montserrat"/>
              </a:rPr>
              <a:t>Problema: análisis técnico difícil de interpretar para principiantes/intermedios.</a:t>
            </a:r>
          </a:p>
          <a:p>
            <a:pPr algn="l" marL="453395" indent="-226697" lvl="1">
              <a:lnSpc>
                <a:spcPts val="2940"/>
              </a:lnSpc>
              <a:buFont typeface="Arial"/>
              <a:buChar char="•"/>
            </a:pPr>
            <a:r>
              <a:rPr lang="en-US" sz="2100">
                <a:solidFill>
                  <a:srgbClr val="1D1D1D"/>
                </a:solidFill>
                <a:latin typeface="Montserrat"/>
                <a:ea typeface="Montserrat"/>
                <a:cs typeface="Montserrat"/>
                <a:sym typeface="Montserrat"/>
              </a:rPr>
              <a:t>Aporte: convierte evaluaciones en retroalimentación didáctica accionable.</a:t>
            </a:r>
          </a:p>
          <a:p>
            <a:pPr algn="l">
              <a:lnSpc>
                <a:spcPts val="2940"/>
              </a:lnSpc>
            </a:pPr>
          </a:p>
        </p:txBody>
      </p:sp>
      <p:sp>
        <p:nvSpPr>
          <p:cNvPr name="TextBox 15" id="15"/>
          <p:cNvSpPr txBox="true"/>
          <p:nvPr/>
        </p:nvSpPr>
        <p:spPr>
          <a:xfrm rot="0">
            <a:off x="1756883" y="1338854"/>
            <a:ext cx="6398340" cy="1193800"/>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Relevancia</a:t>
            </a:r>
          </a:p>
        </p:txBody>
      </p:sp>
      <p:sp>
        <p:nvSpPr>
          <p:cNvPr name="TextBox 16" id="16"/>
          <p:cNvSpPr txBox="true"/>
          <p:nvPr/>
        </p:nvSpPr>
        <p:spPr>
          <a:xfrm rot="0">
            <a:off x="1756883" y="2427511"/>
            <a:ext cx="6398340" cy="1193800"/>
          </a:xfrm>
          <a:prstGeom prst="rect">
            <a:avLst/>
          </a:prstGeom>
        </p:spPr>
        <p:txBody>
          <a:bodyPr anchor="t" rtlCol="false" tIns="0" lIns="0" bIns="0" rIns="0">
            <a:spAutoFit/>
          </a:bodyPr>
          <a:lstStyle/>
          <a:p>
            <a:pPr algn="l">
              <a:lnSpc>
                <a:spcPts val="9799"/>
              </a:lnSpc>
            </a:pPr>
            <a:r>
              <a:rPr lang="en-US" sz="6999" b="true">
                <a:solidFill>
                  <a:srgbClr val="03989E"/>
                </a:solidFill>
                <a:latin typeface="Glacial Indifference Bold"/>
                <a:ea typeface="Glacial Indifference Bold"/>
                <a:cs typeface="Glacial Indifference Bold"/>
                <a:sym typeface="Glacial Indifference Bold"/>
              </a:rPr>
              <a:t>Study Chess</a:t>
            </a:r>
          </a:p>
        </p:txBody>
      </p:sp>
      <p:sp>
        <p:nvSpPr>
          <p:cNvPr name="TextBox 17" id="17"/>
          <p:cNvSpPr txBox="true"/>
          <p:nvPr/>
        </p:nvSpPr>
        <p:spPr>
          <a:xfrm rot="0">
            <a:off x="10886347" y="5705460"/>
            <a:ext cx="4963331" cy="356235"/>
          </a:xfrm>
          <a:prstGeom prst="rect">
            <a:avLst/>
          </a:prstGeom>
        </p:spPr>
        <p:txBody>
          <a:bodyPr anchor="t" rtlCol="false" tIns="0" lIns="0" bIns="0" rIns="0">
            <a:spAutoFit/>
          </a:bodyPr>
          <a:lstStyle/>
          <a:p>
            <a:pPr algn="l">
              <a:lnSpc>
                <a:spcPts val="2940"/>
              </a:lnSpc>
            </a:pPr>
            <a:r>
              <a:rPr lang="en-US" sz="2100" b="true">
                <a:solidFill>
                  <a:srgbClr val="1D1D1D"/>
                </a:solidFill>
                <a:latin typeface="Montserrat Bold"/>
                <a:ea typeface="Montserrat Bold"/>
                <a:cs typeface="Montserrat Bold"/>
                <a:sym typeface="Montserrat Bold"/>
              </a:rPr>
              <a:t>APRENDIZAJE AUTÓNOMO</a:t>
            </a:r>
          </a:p>
        </p:txBody>
      </p:sp>
      <p:sp>
        <p:nvSpPr>
          <p:cNvPr name="TextBox 18" id="18"/>
          <p:cNvSpPr txBox="true"/>
          <p:nvPr/>
        </p:nvSpPr>
        <p:spPr>
          <a:xfrm rot="0">
            <a:off x="10886347" y="7709085"/>
            <a:ext cx="4963331" cy="356235"/>
          </a:xfrm>
          <a:prstGeom prst="rect">
            <a:avLst/>
          </a:prstGeom>
        </p:spPr>
        <p:txBody>
          <a:bodyPr anchor="t" rtlCol="false" tIns="0" lIns="0" bIns="0" rIns="0">
            <a:spAutoFit/>
          </a:bodyPr>
          <a:lstStyle/>
          <a:p>
            <a:pPr algn="l">
              <a:lnSpc>
                <a:spcPts val="2940"/>
              </a:lnSpc>
            </a:pPr>
            <a:r>
              <a:rPr lang="en-US" sz="2100" b="true">
                <a:solidFill>
                  <a:srgbClr val="1D1D1D"/>
                </a:solidFill>
                <a:latin typeface="Montserrat Bold"/>
                <a:ea typeface="Montserrat Bold"/>
                <a:cs typeface="Montserrat Bold"/>
                <a:sym typeface="Montserrat Bold"/>
              </a:rPr>
              <a:t>VINCULACIÓN COMUNITARIA</a:t>
            </a:r>
          </a:p>
        </p:txBody>
      </p:sp>
      <p:sp>
        <p:nvSpPr>
          <p:cNvPr name="TextBox 19" id="19"/>
          <p:cNvSpPr txBox="true"/>
          <p:nvPr/>
        </p:nvSpPr>
        <p:spPr>
          <a:xfrm rot="0">
            <a:off x="10058893" y="6368416"/>
            <a:ext cx="5790785" cy="1099184"/>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Transforma evaluaciones del motor en feedback entendible para principiantes e intermedios.</a:t>
            </a:r>
          </a:p>
        </p:txBody>
      </p:sp>
      <p:sp>
        <p:nvSpPr>
          <p:cNvPr name="TextBox 20" id="20"/>
          <p:cNvSpPr txBox="true"/>
          <p:nvPr/>
        </p:nvSpPr>
        <p:spPr>
          <a:xfrm rot="0">
            <a:off x="10058893" y="8372041"/>
            <a:ext cx="5790785" cy="72770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Facilita análisis post-partida y bibliotecas compartidas para clubes/torneos locales.</a:t>
            </a:r>
          </a:p>
        </p:txBody>
      </p:sp>
      <p:sp>
        <p:nvSpPr>
          <p:cNvPr name="Freeform 21" id="21"/>
          <p:cNvSpPr/>
          <p:nvPr/>
        </p:nvSpPr>
        <p:spPr>
          <a:xfrm flipH="false" flipV="false" rot="0">
            <a:off x="0" y="8310198"/>
            <a:ext cx="1756883" cy="1976802"/>
          </a:xfrm>
          <a:custGeom>
            <a:avLst/>
            <a:gdLst/>
            <a:ahLst/>
            <a:cxnLst/>
            <a:rect r="r" b="b" t="t" l="l"/>
            <a:pathLst>
              <a:path h="1976802" w="1756883">
                <a:moveTo>
                  <a:pt x="0" y="0"/>
                </a:moveTo>
                <a:lnTo>
                  <a:pt x="1756883" y="0"/>
                </a:lnTo>
                <a:lnTo>
                  <a:pt x="1756883" y="1976802"/>
                </a:lnTo>
                <a:lnTo>
                  <a:pt x="0" y="197680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7200900"/>
            <a:ext cx="8344335" cy="8229600"/>
          </a:xfrm>
          <a:custGeom>
            <a:avLst/>
            <a:gdLst/>
            <a:ahLst/>
            <a:cxnLst/>
            <a:rect r="r" b="b" t="t" l="l"/>
            <a:pathLst>
              <a:path h="8229600" w="8344335">
                <a:moveTo>
                  <a:pt x="0" y="0"/>
                </a:moveTo>
                <a:lnTo>
                  <a:pt x="8344335" y="0"/>
                </a:lnTo>
                <a:lnTo>
                  <a:pt x="8344335" y="8229600"/>
                </a:lnTo>
                <a:lnTo>
                  <a:pt x="0" y="8229600"/>
                </a:lnTo>
                <a:lnTo>
                  <a:pt x="0" y="0"/>
                </a:lnTo>
                <a:close/>
              </a:path>
            </a:pathLst>
          </a:custGeom>
          <a:blipFill>
            <a:blip r:embed="rId6">
              <a:alphaModFix amt="5000"/>
            </a:blip>
            <a:stretch>
              <a:fillRect l="0" t="0" r="0" b="0"/>
            </a:stretch>
          </a:blipFill>
        </p:spPr>
      </p:sp>
      <p:grpSp>
        <p:nvGrpSpPr>
          <p:cNvPr name="Group 5" id="5"/>
          <p:cNvGrpSpPr/>
          <p:nvPr/>
        </p:nvGrpSpPr>
        <p:grpSpPr>
          <a:xfrm rot="0">
            <a:off x="1756883" y="2234432"/>
            <a:ext cx="3215267" cy="6249441"/>
            <a:chOff x="0" y="0"/>
            <a:chExt cx="4287023" cy="8332588"/>
          </a:xfrm>
        </p:grpSpPr>
        <p:pic>
          <p:nvPicPr>
            <p:cNvPr name="Picture 6" id="6"/>
            <p:cNvPicPr>
              <a:picLocks noChangeAspect="true"/>
            </p:cNvPicPr>
            <p:nvPr/>
          </p:nvPicPr>
          <p:blipFill>
            <a:blip r:embed="rId7">
              <a:alphaModFix amt="25000"/>
            </a:blip>
            <a:srcRect l="49436" t="24688" r="24748" b="0"/>
            <a:stretch>
              <a:fillRect/>
            </a:stretch>
          </p:blipFill>
          <p:spPr>
            <a:xfrm flipH="false" flipV="false">
              <a:off x="0" y="0"/>
              <a:ext cx="4287023" cy="8332588"/>
            </a:xfrm>
            <a:prstGeom prst="rect">
              <a:avLst/>
            </a:prstGeom>
          </p:spPr>
        </p:pic>
      </p:grpSp>
      <p:grpSp>
        <p:nvGrpSpPr>
          <p:cNvPr name="Group 7" id="7"/>
          <p:cNvGrpSpPr/>
          <p:nvPr/>
        </p:nvGrpSpPr>
        <p:grpSpPr>
          <a:xfrm rot="0">
            <a:off x="5800148" y="2234432"/>
            <a:ext cx="3215267" cy="6249441"/>
            <a:chOff x="0" y="0"/>
            <a:chExt cx="4287023" cy="8332588"/>
          </a:xfrm>
        </p:grpSpPr>
        <p:pic>
          <p:nvPicPr>
            <p:cNvPr name="Picture 8" id="8"/>
            <p:cNvPicPr>
              <a:picLocks noChangeAspect="true"/>
            </p:cNvPicPr>
            <p:nvPr/>
          </p:nvPicPr>
          <p:blipFill>
            <a:blip r:embed="rId8">
              <a:alphaModFix amt="25000"/>
            </a:blip>
            <a:srcRect l="32861" t="0" r="32861" b="0"/>
            <a:stretch>
              <a:fillRect/>
            </a:stretch>
          </p:blipFill>
          <p:spPr>
            <a:xfrm flipH="false" flipV="false">
              <a:off x="0" y="0"/>
              <a:ext cx="4287023" cy="8332588"/>
            </a:xfrm>
            <a:prstGeom prst="rect">
              <a:avLst/>
            </a:prstGeom>
          </p:spPr>
        </p:pic>
      </p:grpSp>
      <p:grpSp>
        <p:nvGrpSpPr>
          <p:cNvPr name="Group 9" id="9"/>
          <p:cNvGrpSpPr/>
          <p:nvPr/>
        </p:nvGrpSpPr>
        <p:grpSpPr>
          <a:xfrm rot="0">
            <a:off x="1756883" y="1606548"/>
            <a:ext cx="7485047" cy="7020877"/>
            <a:chOff x="0" y="0"/>
            <a:chExt cx="9980063" cy="9361169"/>
          </a:xfrm>
        </p:grpSpPr>
        <p:pic>
          <p:nvPicPr>
            <p:cNvPr name="Picture 10" id="10"/>
            <p:cNvPicPr>
              <a:picLocks noChangeAspect="true"/>
            </p:cNvPicPr>
            <p:nvPr/>
          </p:nvPicPr>
          <p:blipFill>
            <a:blip r:embed="rId9"/>
            <a:srcRect l="18091" t="0" r="33933" b="0"/>
            <a:stretch>
              <a:fillRect/>
            </a:stretch>
          </p:blipFill>
          <p:spPr>
            <a:xfrm flipH="false" flipV="false">
              <a:off x="0" y="0"/>
              <a:ext cx="9980063" cy="9361169"/>
            </a:xfrm>
            <a:prstGeom prst="rect">
              <a:avLst/>
            </a:prstGeom>
          </p:spPr>
        </p:pic>
      </p:grpSp>
      <p:sp>
        <p:nvSpPr>
          <p:cNvPr name="Freeform 11" id="11"/>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6">
              <a:alphaModFix amt="5000"/>
            </a:blip>
            <a:stretch>
              <a:fillRect l="0" t="0" r="0" b="0"/>
            </a:stretch>
          </a:blipFill>
        </p:spPr>
      </p:sp>
      <p:sp>
        <p:nvSpPr>
          <p:cNvPr name="Freeform 12" id="12"/>
          <p:cNvSpPr/>
          <p:nvPr/>
        </p:nvSpPr>
        <p:spPr>
          <a:xfrm flipH="false" flipV="false" rot="0">
            <a:off x="0" y="8310198"/>
            <a:ext cx="1756883" cy="1976802"/>
          </a:xfrm>
          <a:custGeom>
            <a:avLst/>
            <a:gdLst/>
            <a:ahLst/>
            <a:cxnLst/>
            <a:rect r="r" b="b" t="t" l="l"/>
            <a:pathLst>
              <a:path h="1976802" w="1756883">
                <a:moveTo>
                  <a:pt x="0" y="0"/>
                </a:moveTo>
                <a:lnTo>
                  <a:pt x="1756883" y="0"/>
                </a:lnTo>
                <a:lnTo>
                  <a:pt x="1756883" y="1976802"/>
                </a:lnTo>
                <a:lnTo>
                  <a:pt x="0" y="19768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5509711" y="-737080"/>
            <a:ext cx="2859498" cy="2343629"/>
          </a:xfrm>
          <a:custGeom>
            <a:avLst/>
            <a:gdLst/>
            <a:ahLst/>
            <a:cxnLst/>
            <a:rect r="r" b="b" t="t" l="l"/>
            <a:pathLst>
              <a:path h="2343629" w="2859498">
                <a:moveTo>
                  <a:pt x="0" y="0"/>
                </a:moveTo>
                <a:lnTo>
                  <a:pt x="2859498" y="0"/>
                </a:lnTo>
                <a:lnTo>
                  <a:pt x="2859498" y="2343628"/>
                </a:lnTo>
                <a:lnTo>
                  <a:pt x="0" y="2343628"/>
                </a:lnTo>
                <a:lnTo>
                  <a:pt x="0" y="0"/>
                </a:lnTo>
                <a:close/>
              </a:path>
            </a:pathLst>
          </a:custGeom>
          <a:blipFill>
            <a:blip r:embed="rId12"/>
            <a:stretch>
              <a:fillRect l="0" t="0" r="0" b="-22011"/>
            </a:stretch>
          </a:blipFill>
        </p:spPr>
      </p:sp>
      <p:sp>
        <p:nvSpPr>
          <p:cNvPr name="TextBox 14" id="14"/>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Game</a:t>
            </a:r>
          </a:p>
        </p:txBody>
      </p:sp>
      <p:sp>
        <p:nvSpPr>
          <p:cNvPr name="TextBox 15" id="15"/>
          <p:cNvSpPr txBox="true"/>
          <p:nvPr/>
        </p:nvSpPr>
        <p:spPr>
          <a:xfrm rot="-5400000">
            <a:off x="15023750" y="7022816"/>
            <a:ext cx="4114800" cy="356169"/>
          </a:xfrm>
          <a:prstGeom prst="rect">
            <a:avLst/>
          </a:prstGeom>
        </p:spPr>
        <p:txBody>
          <a:bodyPr anchor="t" rtlCol="false" tIns="0" lIns="0" bIns="0" rIns="0">
            <a:spAutoFit/>
          </a:bodyPr>
          <a:lstStyle/>
          <a:p>
            <a:pPr algn="l">
              <a:lnSpc>
                <a:spcPts val="2940"/>
              </a:lnSpc>
            </a:pPr>
            <a:r>
              <a:rPr lang="en-US" sz="2100" spc="273">
                <a:solidFill>
                  <a:srgbClr val="1D1D1D"/>
                </a:solidFill>
                <a:latin typeface="Montserrat"/>
                <a:ea typeface="Montserrat"/>
                <a:cs typeface="Montserrat"/>
                <a:sym typeface="Montserrat"/>
              </a:rPr>
              <a:t>reallygreatsite.com</a:t>
            </a:r>
          </a:p>
        </p:txBody>
      </p:sp>
      <p:sp>
        <p:nvSpPr>
          <p:cNvPr name="TextBox 16" id="16"/>
          <p:cNvSpPr txBox="true"/>
          <p:nvPr/>
        </p:nvSpPr>
        <p:spPr>
          <a:xfrm rot="-5400000">
            <a:off x="16355316" y="2268764"/>
            <a:ext cx="1448257" cy="356169"/>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02</a:t>
            </a:r>
          </a:p>
        </p:txBody>
      </p:sp>
      <p:sp>
        <p:nvSpPr>
          <p:cNvPr name="TextBox 17" id="17"/>
          <p:cNvSpPr txBox="true"/>
          <p:nvPr/>
        </p:nvSpPr>
        <p:spPr>
          <a:xfrm rot="0">
            <a:off x="9652915" y="3770086"/>
            <a:ext cx="5351945" cy="1099184"/>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Tablero interactivo, motor Stockfish, auth y BD listos; control de versiones con GitHub, trabajo con Scrum.</a:t>
            </a:r>
          </a:p>
        </p:txBody>
      </p:sp>
      <p:sp>
        <p:nvSpPr>
          <p:cNvPr name="TextBox 18" id="18"/>
          <p:cNvSpPr txBox="true"/>
          <p:nvPr/>
        </p:nvSpPr>
        <p:spPr>
          <a:xfrm rot="0">
            <a:off x="9489580" y="1155296"/>
            <a:ext cx="6398340" cy="243205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Resumen del avance</a:t>
            </a:r>
          </a:p>
        </p:txBody>
      </p:sp>
      <p:grpSp>
        <p:nvGrpSpPr>
          <p:cNvPr name="Group 19" id="19"/>
          <p:cNvGrpSpPr/>
          <p:nvPr/>
        </p:nvGrpSpPr>
        <p:grpSpPr>
          <a:xfrm rot="0">
            <a:off x="9489580" y="4983570"/>
            <a:ext cx="8514341" cy="5303430"/>
            <a:chOff x="0" y="0"/>
            <a:chExt cx="11352454" cy="7071240"/>
          </a:xfrm>
        </p:grpSpPr>
        <p:pic>
          <p:nvPicPr>
            <p:cNvPr name="Picture 20" id="20"/>
            <p:cNvPicPr>
              <a:picLocks noChangeAspect="true"/>
            </p:cNvPicPr>
            <p:nvPr/>
          </p:nvPicPr>
          <p:blipFill>
            <a:blip r:embed="rId13"/>
            <a:srcRect l="2858" t="0" r="2858" b="0"/>
            <a:stretch>
              <a:fillRect/>
            </a:stretch>
          </p:blipFill>
          <p:spPr>
            <a:xfrm flipH="false" flipV="false">
              <a:off x="0" y="0"/>
              <a:ext cx="11352454" cy="7071240"/>
            </a:xfrm>
            <a:prstGeom prst="rect">
              <a:avLst/>
            </a:prstGeom>
          </p:spPr>
        </p:pic>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60826" y="7200900"/>
            <a:ext cx="7207510" cy="3775709"/>
            <a:chOff x="0" y="0"/>
            <a:chExt cx="9610013" cy="5034279"/>
          </a:xfrm>
        </p:grpSpPr>
        <p:pic>
          <p:nvPicPr>
            <p:cNvPr name="Picture 5" id="5"/>
            <p:cNvPicPr>
              <a:picLocks noChangeAspect="true"/>
            </p:cNvPicPr>
            <p:nvPr/>
          </p:nvPicPr>
          <p:blipFill>
            <a:blip r:embed="rId6"/>
            <a:srcRect l="11673" t="53182" r="29246" b="365"/>
            <a:stretch>
              <a:fillRect/>
            </a:stretch>
          </p:blipFill>
          <p:spPr>
            <a:xfrm flipH="false" flipV="false">
              <a:off x="0" y="0"/>
              <a:ext cx="9610013" cy="5034279"/>
            </a:xfrm>
            <a:prstGeom prst="rect">
              <a:avLst/>
            </a:prstGeom>
          </p:spPr>
        </p:pic>
      </p:grpSp>
      <p:sp>
        <p:nvSpPr>
          <p:cNvPr name="Freeform 6" id="6"/>
          <p:cNvSpPr/>
          <p:nvPr/>
        </p:nvSpPr>
        <p:spPr>
          <a:xfrm flipH="false" flipV="false" rot="0">
            <a:off x="6492905" y="-6195193"/>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7">
              <a:alphaModFix amt="5000"/>
            </a:blip>
            <a:stretch>
              <a:fillRect l="0" t="0" r="0" b="0"/>
            </a:stretch>
          </a:blipFill>
        </p:spPr>
      </p:sp>
      <p:grpSp>
        <p:nvGrpSpPr>
          <p:cNvPr name="Group 7" id="7"/>
          <p:cNvGrpSpPr/>
          <p:nvPr/>
        </p:nvGrpSpPr>
        <p:grpSpPr>
          <a:xfrm rot="0">
            <a:off x="8868336" y="0"/>
            <a:ext cx="10016481" cy="4953536"/>
            <a:chOff x="0" y="0"/>
            <a:chExt cx="13355308" cy="6604715"/>
          </a:xfrm>
        </p:grpSpPr>
        <p:pic>
          <p:nvPicPr>
            <p:cNvPr name="Picture 8" id="8"/>
            <p:cNvPicPr>
              <a:picLocks noChangeAspect="true"/>
            </p:cNvPicPr>
            <p:nvPr/>
          </p:nvPicPr>
          <p:blipFill>
            <a:blip r:embed="rId8"/>
            <a:srcRect l="0" t="6041" r="0" b="6041"/>
            <a:stretch>
              <a:fillRect/>
            </a:stretch>
          </p:blipFill>
          <p:spPr>
            <a:xfrm flipH="false" flipV="false">
              <a:off x="0" y="0"/>
              <a:ext cx="13355308" cy="6604715"/>
            </a:xfrm>
            <a:prstGeom prst="rect">
              <a:avLst/>
            </a:prstGeom>
          </p:spPr>
        </p:pic>
      </p:grpSp>
      <p:sp>
        <p:nvSpPr>
          <p:cNvPr name="Freeform 9" id="9"/>
          <p:cNvSpPr/>
          <p:nvPr/>
        </p:nvSpPr>
        <p:spPr>
          <a:xfrm flipH="false" flipV="false" rot="0">
            <a:off x="10058893" y="5694915"/>
            <a:ext cx="450325" cy="415425"/>
          </a:xfrm>
          <a:custGeom>
            <a:avLst/>
            <a:gdLst/>
            <a:ahLst/>
            <a:cxnLst/>
            <a:rect r="r" b="b" t="t" l="l"/>
            <a:pathLst>
              <a:path h="415425" w="450325">
                <a:moveTo>
                  <a:pt x="0" y="0"/>
                </a:moveTo>
                <a:lnTo>
                  <a:pt x="450325" y="0"/>
                </a:lnTo>
                <a:lnTo>
                  <a:pt x="450325" y="415425"/>
                </a:lnTo>
                <a:lnTo>
                  <a:pt x="0" y="4154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058893" y="6993188"/>
            <a:ext cx="450325" cy="415425"/>
          </a:xfrm>
          <a:custGeom>
            <a:avLst/>
            <a:gdLst/>
            <a:ahLst/>
            <a:cxnLst/>
            <a:rect r="r" b="b" t="t" l="l"/>
            <a:pathLst>
              <a:path h="415425" w="450325">
                <a:moveTo>
                  <a:pt x="0" y="0"/>
                </a:moveTo>
                <a:lnTo>
                  <a:pt x="450325" y="0"/>
                </a:lnTo>
                <a:lnTo>
                  <a:pt x="450325" y="415424"/>
                </a:lnTo>
                <a:lnTo>
                  <a:pt x="0" y="4154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0" y="8310198"/>
            <a:ext cx="1756883" cy="1976802"/>
          </a:xfrm>
          <a:custGeom>
            <a:avLst/>
            <a:gdLst/>
            <a:ahLst/>
            <a:cxnLst/>
            <a:rect r="r" b="b" t="t" l="l"/>
            <a:pathLst>
              <a:path h="1976802" w="1756883">
                <a:moveTo>
                  <a:pt x="0" y="0"/>
                </a:moveTo>
                <a:lnTo>
                  <a:pt x="1756883" y="0"/>
                </a:lnTo>
                <a:lnTo>
                  <a:pt x="1756883" y="1976802"/>
                </a:lnTo>
                <a:lnTo>
                  <a:pt x="0" y="197680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Game</a:t>
            </a:r>
          </a:p>
        </p:txBody>
      </p:sp>
      <p:sp>
        <p:nvSpPr>
          <p:cNvPr name="TextBox 13" id="13"/>
          <p:cNvSpPr txBox="true"/>
          <p:nvPr/>
        </p:nvSpPr>
        <p:spPr>
          <a:xfrm rot="-5400000">
            <a:off x="15023750" y="7022816"/>
            <a:ext cx="4114800" cy="356169"/>
          </a:xfrm>
          <a:prstGeom prst="rect">
            <a:avLst/>
          </a:prstGeom>
        </p:spPr>
        <p:txBody>
          <a:bodyPr anchor="t" rtlCol="false" tIns="0" lIns="0" bIns="0" rIns="0">
            <a:spAutoFit/>
          </a:bodyPr>
          <a:lstStyle/>
          <a:p>
            <a:pPr algn="l">
              <a:lnSpc>
                <a:spcPts val="2940"/>
              </a:lnSpc>
            </a:pPr>
            <a:r>
              <a:rPr lang="en-US" sz="2100" spc="273">
                <a:solidFill>
                  <a:srgbClr val="1D1D1D"/>
                </a:solidFill>
                <a:latin typeface="Montserrat"/>
                <a:ea typeface="Montserrat"/>
                <a:cs typeface="Montserrat"/>
                <a:sym typeface="Montserrat"/>
              </a:rPr>
              <a:t>reallygreatsite.com</a:t>
            </a:r>
          </a:p>
        </p:txBody>
      </p:sp>
      <p:sp>
        <p:nvSpPr>
          <p:cNvPr name="TextBox 14" id="14"/>
          <p:cNvSpPr txBox="true"/>
          <p:nvPr/>
        </p:nvSpPr>
        <p:spPr>
          <a:xfrm rot="-5400000">
            <a:off x="16357021" y="2056348"/>
            <a:ext cx="1448257" cy="356169"/>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02</a:t>
            </a:r>
          </a:p>
        </p:txBody>
      </p:sp>
      <p:sp>
        <p:nvSpPr>
          <p:cNvPr name="TextBox 15" id="15"/>
          <p:cNvSpPr txBox="true"/>
          <p:nvPr/>
        </p:nvSpPr>
        <p:spPr>
          <a:xfrm rot="0">
            <a:off x="1660826" y="3852248"/>
            <a:ext cx="7207510" cy="4813934"/>
          </a:xfrm>
          <a:prstGeom prst="rect">
            <a:avLst/>
          </a:prstGeom>
        </p:spPr>
        <p:txBody>
          <a:bodyPr anchor="t" rtlCol="false" tIns="0" lIns="0" bIns="0" rIns="0">
            <a:spAutoFit/>
          </a:bodyPr>
          <a:lstStyle/>
          <a:p>
            <a:pPr algn="l" marL="453395" indent="-226697" lvl="1">
              <a:lnSpc>
                <a:spcPts val="2940"/>
              </a:lnSpc>
              <a:buFont typeface="Arial"/>
              <a:buChar char="•"/>
            </a:pPr>
            <a:r>
              <a:rPr lang="en-US" sz="2100">
                <a:solidFill>
                  <a:srgbClr val="1D1D1D"/>
                </a:solidFill>
                <a:latin typeface="Montserrat"/>
                <a:ea typeface="Montserrat"/>
                <a:cs typeface="Montserrat"/>
                <a:sym typeface="Montserrat"/>
              </a:rPr>
              <a:t>Consolidar un tablero interactivo estable que permita cargar y recorrer partidas en PGN; integrar el motor de análisis para evaluar jugada a jugada y clasificar errores tácticos/estratégicos; y habilitar registro, autenticación y almacenamiento seguro de partidas y avances por usuario, dejando la plataforma lista para la etapa de pruebas con jugadores.</a:t>
            </a:r>
          </a:p>
          <a:p>
            <a:pPr algn="l">
              <a:lnSpc>
                <a:spcPts val="2940"/>
              </a:lnSpc>
            </a:pPr>
          </a:p>
          <a:p>
            <a:pPr algn="l">
              <a:lnSpc>
                <a:spcPts val="2940"/>
              </a:lnSpc>
            </a:pPr>
          </a:p>
          <a:p>
            <a:pPr algn="l" marL="453395" indent="-226697" lvl="1">
              <a:lnSpc>
                <a:spcPts val="2940"/>
              </a:lnSpc>
              <a:buFont typeface="Arial"/>
              <a:buChar char="•"/>
            </a:pPr>
          </a:p>
          <a:p>
            <a:pPr algn="l" marL="453395" indent="-226697" lvl="1">
              <a:lnSpc>
                <a:spcPts val="2940"/>
              </a:lnSpc>
              <a:buFont typeface="Arial"/>
              <a:buChar char="•"/>
            </a:pPr>
          </a:p>
          <a:p>
            <a:pPr algn="l">
              <a:lnSpc>
                <a:spcPts val="2940"/>
              </a:lnSpc>
            </a:pPr>
          </a:p>
        </p:txBody>
      </p:sp>
      <p:sp>
        <p:nvSpPr>
          <p:cNvPr name="TextBox 16" id="16"/>
          <p:cNvSpPr txBox="true"/>
          <p:nvPr/>
        </p:nvSpPr>
        <p:spPr>
          <a:xfrm rot="0">
            <a:off x="1756883" y="1338854"/>
            <a:ext cx="6398340" cy="2344420"/>
          </a:xfrm>
          <a:prstGeom prst="rect">
            <a:avLst/>
          </a:prstGeom>
        </p:spPr>
        <p:txBody>
          <a:bodyPr anchor="t" rtlCol="false" tIns="0" lIns="0" bIns="0" rIns="0">
            <a:spAutoFit/>
          </a:bodyPr>
          <a:lstStyle/>
          <a:p>
            <a:pPr algn="l">
              <a:lnSpc>
                <a:spcPts val="9380"/>
              </a:lnSpc>
            </a:pPr>
            <a:r>
              <a:rPr lang="en-US" sz="6700" b="true">
                <a:solidFill>
                  <a:srgbClr val="1D1D1D"/>
                </a:solidFill>
                <a:latin typeface="Glacial Indifference Bold"/>
                <a:ea typeface="Glacial Indifference Bold"/>
                <a:cs typeface="Glacial Indifference Bold"/>
                <a:sym typeface="Glacial Indifference Bold"/>
              </a:rPr>
              <a:t>Objetivos específicos (F2)</a:t>
            </a:r>
          </a:p>
        </p:txBody>
      </p:sp>
      <p:sp>
        <p:nvSpPr>
          <p:cNvPr name="TextBox 17" id="17"/>
          <p:cNvSpPr txBox="true"/>
          <p:nvPr/>
        </p:nvSpPr>
        <p:spPr>
          <a:xfrm rot="0">
            <a:off x="10886347" y="5705460"/>
            <a:ext cx="4963331" cy="323215"/>
          </a:xfrm>
          <a:prstGeom prst="rect">
            <a:avLst/>
          </a:prstGeom>
        </p:spPr>
        <p:txBody>
          <a:bodyPr anchor="t" rtlCol="false" tIns="0" lIns="0" bIns="0" rIns="0">
            <a:spAutoFit/>
          </a:bodyPr>
          <a:lstStyle/>
          <a:p>
            <a:pPr algn="l">
              <a:lnSpc>
                <a:spcPts val="2660"/>
              </a:lnSpc>
            </a:pPr>
            <a:r>
              <a:rPr lang="en-US" sz="1900" b="true">
                <a:solidFill>
                  <a:srgbClr val="1D1D1D"/>
                </a:solidFill>
                <a:latin typeface="Montserrat Bold"/>
                <a:ea typeface="Montserrat Bold"/>
                <a:cs typeface="Montserrat Bold"/>
                <a:sym typeface="Montserrat Bold"/>
              </a:rPr>
              <a:t>TABLERO BÁSICO</a:t>
            </a:r>
          </a:p>
        </p:txBody>
      </p:sp>
      <p:sp>
        <p:nvSpPr>
          <p:cNvPr name="TextBox 18" id="18"/>
          <p:cNvSpPr txBox="true"/>
          <p:nvPr/>
        </p:nvSpPr>
        <p:spPr>
          <a:xfrm rot="0">
            <a:off x="10886347" y="7052378"/>
            <a:ext cx="4963331" cy="356235"/>
          </a:xfrm>
          <a:prstGeom prst="rect">
            <a:avLst/>
          </a:prstGeom>
        </p:spPr>
        <p:txBody>
          <a:bodyPr anchor="t" rtlCol="false" tIns="0" lIns="0" bIns="0" rIns="0">
            <a:spAutoFit/>
          </a:bodyPr>
          <a:lstStyle/>
          <a:p>
            <a:pPr algn="l">
              <a:lnSpc>
                <a:spcPts val="2940"/>
              </a:lnSpc>
            </a:pPr>
            <a:r>
              <a:rPr lang="en-US" sz="2100" b="true">
                <a:solidFill>
                  <a:srgbClr val="1D1D1D"/>
                </a:solidFill>
                <a:latin typeface="Montserrat Bold"/>
                <a:ea typeface="Montserrat Bold"/>
                <a:cs typeface="Montserrat Bold"/>
                <a:sym typeface="Montserrat Bold"/>
              </a:rPr>
              <a:t>MOTOR DE ANÁLISIS</a:t>
            </a:r>
          </a:p>
        </p:txBody>
      </p:sp>
      <p:sp>
        <p:nvSpPr>
          <p:cNvPr name="Freeform 19" id="19"/>
          <p:cNvSpPr/>
          <p:nvPr/>
        </p:nvSpPr>
        <p:spPr>
          <a:xfrm flipH="false" flipV="false" rot="0">
            <a:off x="10058893" y="8113665"/>
            <a:ext cx="450325" cy="415425"/>
          </a:xfrm>
          <a:custGeom>
            <a:avLst/>
            <a:gdLst/>
            <a:ahLst/>
            <a:cxnLst/>
            <a:rect r="r" b="b" t="t" l="l"/>
            <a:pathLst>
              <a:path h="415425" w="450325">
                <a:moveTo>
                  <a:pt x="0" y="0"/>
                </a:moveTo>
                <a:lnTo>
                  <a:pt x="450325" y="0"/>
                </a:lnTo>
                <a:lnTo>
                  <a:pt x="450325" y="415425"/>
                </a:lnTo>
                <a:lnTo>
                  <a:pt x="0" y="4154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10886347" y="7938473"/>
            <a:ext cx="4963331" cy="727710"/>
          </a:xfrm>
          <a:prstGeom prst="rect">
            <a:avLst/>
          </a:prstGeom>
        </p:spPr>
        <p:txBody>
          <a:bodyPr anchor="t" rtlCol="false" tIns="0" lIns="0" bIns="0" rIns="0">
            <a:spAutoFit/>
          </a:bodyPr>
          <a:lstStyle/>
          <a:p>
            <a:pPr algn="l">
              <a:lnSpc>
                <a:spcPts val="2940"/>
              </a:lnSpc>
            </a:pPr>
            <a:r>
              <a:rPr lang="en-US" sz="2100" b="true">
                <a:solidFill>
                  <a:srgbClr val="1D1D1D"/>
                </a:solidFill>
                <a:latin typeface="Montserrat Bold"/>
                <a:ea typeface="Montserrat Bold"/>
                <a:cs typeface="Montserrat Bold"/>
                <a:sym typeface="Montserrat Bold"/>
              </a:rPr>
              <a:t> ALMACENAMIENTO Y AUTENTICACIÓN DE USUARIOS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144000" y="580615"/>
            <a:ext cx="6799268" cy="5585186"/>
            <a:chOff x="0" y="0"/>
            <a:chExt cx="9065691" cy="7446914"/>
          </a:xfrm>
        </p:grpSpPr>
        <p:pic>
          <p:nvPicPr>
            <p:cNvPr name="Picture 5" id="5"/>
            <p:cNvPicPr>
              <a:picLocks noChangeAspect="true"/>
            </p:cNvPicPr>
            <p:nvPr/>
          </p:nvPicPr>
          <p:blipFill>
            <a:blip r:embed="rId6"/>
            <a:srcRect l="7163" t="0" r="7163" b="0"/>
            <a:stretch>
              <a:fillRect/>
            </a:stretch>
          </p:blipFill>
          <p:spPr>
            <a:xfrm flipH="false" flipV="false">
              <a:off x="0" y="0"/>
              <a:ext cx="9065691" cy="7446914"/>
            </a:xfrm>
            <a:prstGeom prst="rect">
              <a:avLst/>
            </a:prstGeom>
          </p:spPr>
        </p:pic>
      </p:grpSp>
      <p:sp>
        <p:nvSpPr>
          <p:cNvPr name="Freeform 6" id="6"/>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7">
              <a:alphaModFix amt="5000"/>
            </a:blip>
            <a:stretch>
              <a:fillRect l="0" t="0" r="0" b="0"/>
            </a:stretch>
          </a:blipFill>
        </p:spPr>
      </p:sp>
      <p:sp>
        <p:nvSpPr>
          <p:cNvPr name="TextBox 7" id="7"/>
          <p:cNvSpPr txBox="true"/>
          <p:nvPr/>
        </p:nvSpPr>
        <p:spPr>
          <a:xfrm rot="0">
            <a:off x="9370384" y="6127701"/>
            <a:ext cx="8137538" cy="4018797"/>
          </a:xfrm>
          <a:prstGeom prst="rect">
            <a:avLst/>
          </a:prstGeom>
        </p:spPr>
        <p:txBody>
          <a:bodyPr anchor="t" rtlCol="false" tIns="0" lIns="0" bIns="0" rIns="0">
            <a:spAutoFit/>
          </a:bodyPr>
          <a:lstStyle/>
          <a:p>
            <a:pPr algn="l" marL="492932" indent="-246466" lvl="1">
              <a:lnSpc>
                <a:spcPts val="3196"/>
              </a:lnSpc>
              <a:buFont typeface="Arial"/>
              <a:buChar char="•"/>
            </a:pPr>
            <a:r>
              <a:rPr lang="en-US" sz="2283">
                <a:solidFill>
                  <a:srgbClr val="1D1D1D"/>
                </a:solidFill>
                <a:latin typeface="Montserrat"/>
                <a:ea typeface="Montserrat"/>
                <a:cs typeface="Montserrat"/>
                <a:sym typeface="Montserrat"/>
              </a:rPr>
              <a:t>Se mantuvo el uso de Scrum con sprints cortos, definiendo tareas claras por iteración (desarrollo de tablero, integración de motor, auth/BD, pruebas iniciales), revisiones periódicas del avance, ajustes sobre la planificación según dificultades técnicas y priorización de funcionalidades críticas, sin cambiar la estructura metodológica, solo redistribuyendo tiempos y entregables para asegurar un MVP funcional en esta fase.</a:t>
            </a:r>
          </a:p>
          <a:p>
            <a:pPr algn="l">
              <a:lnSpc>
                <a:spcPts val="3196"/>
              </a:lnSpc>
            </a:pPr>
          </a:p>
        </p:txBody>
      </p:sp>
      <p:grpSp>
        <p:nvGrpSpPr>
          <p:cNvPr name="Group 8" id="8"/>
          <p:cNvGrpSpPr/>
          <p:nvPr/>
        </p:nvGrpSpPr>
        <p:grpSpPr>
          <a:xfrm rot="0">
            <a:off x="105468" y="5512469"/>
            <a:ext cx="4990582" cy="14824976"/>
            <a:chOff x="0" y="0"/>
            <a:chExt cx="6654109" cy="19766634"/>
          </a:xfrm>
        </p:grpSpPr>
        <p:pic>
          <p:nvPicPr>
            <p:cNvPr name="Picture 9" id="9"/>
            <p:cNvPicPr>
              <a:picLocks noChangeAspect="true"/>
            </p:cNvPicPr>
            <p:nvPr/>
          </p:nvPicPr>
          <p:blipFill>
            <a:blip r:embed="rId8"/>
            <a:srcRect l="0" t="580" r="0" b="580"/>
            <a:stretch>
              <a:fillRect/>
            </a:stretch>
          </p:blipFill>
          <p:spPr>
            <a:xfrm flipH="false" flipV="false">
              <a:off x="0" y="0"/>
              <a:ext cx="6654109" cy="19766634"/>
            </a:xfrm>
            <a:prstGeom prst="rect">
              <a:avLst/>
            </a:prstGeom>
          </p:spPr>
        </p:pic>
      </p:grpSp>
      <p:grpSp>
        <p:nvGrpSpPr>
          <p:cNvPr name="Group 10" id="10"/>
          <p:cNvGrpSpPr/>
          <p:nvPr/>
        </p:nvGrpSpPr>
        <p:grpSpPr>
          <a:xfrm rot="0">
            <a:off x="5317413" y="5883944"/>
            <a:ext cx="4172167" cy="4403056"/>
            <a:chOff x="0" y="0"/>
            <a:chExt cx="5562890" cy="5870741"/>
          </a:xfrm>
        </p:grpSpPr>
        <p:pic>
          <p:nvPicPr>
            <p:cNvPr name="Picture 11" id="11"/>
            <p:cNvPicPr>
              <a:picLocks noChangeAspect="true"/>
            </p:cNvPicPr>
            <p:nvPr/>
          </p:nvPicPr>
          <p:blipFill>
            <a:blip r:embed="rId9"/>
            <a:srcRect l="2621" t="0" r="2621" b="0"/>
            <a:stretch>
              <a:fillRect/>
            </a:stretch>
          </p:blipFill>
          <p:spPr>
            <a:xfrm flipH="false" flipV="false">
              <a:off x="0" y="0"/>
              <a:ext cx="5562890" cy="5870741"/>
            </a:xfrm>
            <a:prstGeom prst="rect">
              <a:avLst/>
            </a:prstGeom>
          </p:spPr>
        </p:pic>
      </p:grpSp>
      <p:sp>
        <p:nvSpPr>
          <p:cNvPr name="TextBox 12" id="12"/>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Game</a:t>
            </a:r>
          </a:p>
        </p:txBody>
      </p:sp>
      <p:sp>
        <p:nvSpPr>
          <p:cNvPr name="TextBox 13" id="13"/>
          <p:cNvSpPr txBox="true"/>
          <p:nvPr/>
        </p:nvSpPr>
        <p:spPr>
          <a:xfrm rot="-5400000">
            <a:off x="16357021" y="2056348"/>
            <a:ext cx="1448257" cy="356169"/>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02</a:t>
            </a:r>
          </a:p>
        </p:txBody>
      </p:sp>
      <p:sp>
        <p:nvSpPr>
          <p:cNvPr name="TextBox 14" id="14"/>
          <p:cNvSpPr txBox="true"/>
          <p:nvPr/>
        </p:nvSpPr>
        <p:spPr>
          <a:xfrm rot="0">
            <a:off x="4442304" y="278859"/>
            <a:ext cx="6398340" cy="243205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 Metodología de trabajo</a:t>
            </a:r>
          </a:p>
        </p:txBody>
      </p:sp>
      <p:sp>
        <p:nvSpPr>
          <p:cNvPr name="TextBox 15" id="15"/>
          <p:cNvSpPr txBox="true"/>
          <p:nvPr/>
        </p:nvSpPr>
        <p:spPr>
          <a:xfrm rot="0">
            <a:off x="863452" y="3670335"/>
            <a:ext cx="2414736" cy="1842134"/>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Patrones clave: clavadas, dobles, mates en 2–3. 20 ejercicios guiados.</a:t>
            </a:r>
          </a:p>
        </p:txBody>
      </p:sp>
      <p:sp>
        <p:nvSpPr>
          <p:cNvPr name="TextBox 16" id="16"/>
          <p:cNvSpPr txBox="true"/>
          <p:nvPr/>
        </p:nvSpPr>
        <p:spPr>
          <a:xfrm rot="0">
            <a:off x="5785896" y="4161005"/>
            <a:ext cx="2414736" cy="147065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Analizadas S9–S11 con Stockfish y feedback automático.</a:t>
            </a:r>
          </a:p>
        </p:txBody>
      </p:sp>
      <p:sp>
        <p:nvSpPr>
          <p:cNvPr name="TextBox 17" id="17"/>
          <p:cNvSpPr txBox="true"/>
          <p:nvPr/>
        </p:nvSpPr>
        <p:spPr>
          <a:xfrm rot="0">
            <a:off x="851782" y="2920460"/>
            <a:ext cx="2723794" cy="727710"/>
          </a:xfrm>
          <a:prstGeom prst="rect">
            <a:avLst/>
          </a:prstGeom>
        </p:spPr>
        <p:txBody>
          <a:bodyPr anchor="t" rtlCol="false" tIns="0" lIns="0" bIns="0" rIns="0">
            <a:spAutoFit/>
          </a:bodyPr>
          <a:lstStyle/>
          <a:p>
            <a:pPr algn="l">
              <a:lnSpc>
                <a:spcPts val="2940"/>
              </a:lnSpc>
            </a:pPr>
            <a:r>
              <a:rPr lang="en-US" sz="2100" b="true">
                <a:solidFill>
                  <a:srgbClr val="1D1D1D"/>
                </a:solidFill>
                <a:latin typeface="Montserrat Bold"/>
                <a:ea typeface="Montserrat Bold"/>
                <a:cs typeface="Montserrat Bold"/>
                <a:sym typeface="Montserrat Bold"/>
              </a:rPr>
              <a:t>ENTRENAMIENTO 1  TÁCTICAS</a:t>
            </a:r>
          </a:p>
        </p:txBody>
      </p:sp>
      <p:sp>
        <p:nvSpPr>
          <p:cNvPr name="TextBox 18" id="18"/>
          <p:cNvSpPr txBox="true"/>
          <p:nvPr/>
        </p:nvSpPr>
        <p:spPr>
          <a:xfrm rot="0">
            <a:off x="5785896" y="3072103"/>
            <a:ext cx="2147942" cy="727710"/>
          </a:xfrm>
          <a:prstGeom prst="rect">
            <a:avLst/>
          </a:prstGeom>
        </p:spPr>
        <p:txBody>
          <a:bodyPr anchor="t" rtlCol="false" tIns="0" lIns="0" bIns="0" rIns="0">
            <a:spAutoFit/>
          </a:bodyPr>
          <a:lstStyle/>
          <a:p>
            <a:pPr algn="l">
              <a:lnSpc>
                <a:spcPts val="2940"/>
              </a:lnSpc>
            </a:pPr>
            <a:r>
              <a:rPr lang="en-US" sz="2100" b="true">
                <a:solidFill>
                  <a:srgbClr val="1D1D1D"/>
                </a:solidFill>
                <a:latin typeface="Montserrat Bold"/>
                <a:ea typeface="Montserrat Bold"/>
                <a:cs typeface="Montserrat Bold"/>
                <a:sym typeface="Montserrat Bold"/>
              </a:rPr>
              <a:t>MVP: 100 PARTIDAS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4614698" y="8222701"/>
            <a:ext cx="8344335" cy="8229600"/>
          </a:xfrm>
          <a:custGeom>
            <a:avLst/>
            <a:gdLst/>
            <a:ahLst/>
            <a:cxnLst/>
            <a:rect r="r" b="b" t="t" l="l"/>
            <a:pathLst>
              <a:path h="8229600" w="8344335">
                <a:moveTo>
                  <a:pt x="8344335" y="0"/>
                </a:moveTo>
                <a:lnTo>
                  <a:pt x="0" y="0"/>
                </a:lnTo>
                <a:lnTo>
                  <a:pt x="0" y="8229600"/>
                </a:lnTo>
                <a:lnTo>
                  <a:pt x="8344335" y="8229600"/>
                </a:lnTo>
                <a:lnTo>
                  <a:pt x="8344335" y="0"/>
                </a:lnTo>
                <a:close/>
              </a:path>
            </a:pathLst>
          </a:custGeom>
          <a:blipFill>
            <a:blip r:embed="rId6">
              <a:alphaModFix amt="5000"/>
            </a:blip>
            <a:stretch>
              <a:fillRect l="0" t="0" r="0" b="0"/>
            </a:stretch>
          </a:blipFill>
        </p:spPr>
      </p:sp>
      <p:sp>
        <p:nvSpPr>
          <p:cNvPr name="Freeform 5" id="5"/>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6">
              <a:alphaModFix amt="5000"/>
            </a:blip>
            <a:stretch>
              <a:fillRect l="0" t="0" r="0" b="0"/>
            </a:stretch>
          </a:blipFill>
        </p:spPr>
      </p:sp>
      <p:sp>
        <p:nvSpPr>
          <p:cNvPr name="Freeform 6" id="6"/>
          <p:cNvSpPr/>
          <p:nvPr/>
        </p:nvSpPr>
        <p:spPr>
          <a:xfrm flipH="false" flipV="false" rot="0">
            <a:off x="9070394" y="4990245"/>
            <a:ext cx="4292412" cy="128772"/>
          </a:xfrm>
          <a:custGeom>
            <a:avLst/>
            <a:gdLst/>
            <a:ahLst/>
            <a:cxnLst/>
            <a:rect r="r" b="b" t="t" l="l"/>
            <a:pathLst>
              <a:path h="128772" w="4292412">
                <a:moveTo>
                  <a:pt x="0" y="0"/>
                </a:moveTo>
                <a:lnTo>
                  <a:pt x="4292412" y="0"/>
                </a:lnTo>
                <a:lnTo>
                  <a:pt x="4292412" y="128772"/>
                </a:lnTo>
                <a:lnTo>
                  <a:pt x="0" y="1287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009232" y="3387300"/>
            <a:ext cx="2414736" cy="1098986"/>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Presentations are tools that can be used as</a:t>
            </a:r>
          </a:p>
        </p:txBody>
      </p:sp>
      <p:sp>
        <p:nvSpPr>
          <p:cNvPr name="TextBox 8" id="8"/>
          <p:cNvSpPr txBox="true"/>
          <p:nvPr/>
        </p:nvSpPr>
        <p:spPr>
          <a:xfrm rot="0">
            <a:off x="10142629" y="2694256"/>
            <a:ext cx="2147942" cy="356169"/>
          </a:xfrm>
          <a:prstGeom prst="rect">
            <a:avLst/>
          </a:prstGeom>
        </p:spPr>
        <p:txBody>
          <a:bodyPr anchor="t" rtlCol="false" tIns="0" lIns="0" bIns="0" rIns="0">
            <a:spAutoFit/>
          </a:bodyPr>
          <a:lstStyle/>
          <a:p>
            <a:pPr algn="ctr">
              <a:lnSpc>
                <a:spcPts val="2940"/>
              </a:lnSpc>
            </a:pPr>
            <a:r>
              <a:rPr lang="en-US" b="true" sz="2100">
                <a:solidFill>
                  <a:srgbClr val="FFFFFF"/>
                </a:solidFill>
                <a:latin typeface="Montserrat Bold"/>
                <a:ea typeface="Montserrat Bold"/>
                <a:cs typeface="Montserrat Bold"/>
                <a:sym typeface="Montserrat Bold"/>
              </a:rPr>
              <a:t>RULES 1</a:t>
            </a:r>
          </a:p>
        </p:txBody>
      </p:sp>
      <p:sp>
        <p:nvSpPr>
          <p:cNvPr name="TextBox 9" id="9"/>
          <p:cNvSpPr txBox="true"/>
          <p:nvPr/>
        </p:nvSpPr>
        <p:spPr>
          <a:xfrm rot="0">
            <a:off x="10009232" y="6238605"/>
            <a:ext cx="2414736" cy="1098986"/>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Presentations are tools that can be used as</a:t>
            </a:r>
          </a:p>
        </p:txBody>
      </p:sp>
      <p:sp>
        <p:nvSpPr>
          <p:cNvPr name="TextBox 10" id="10"/>
          <p:cNvSpPr txBox="true"/>
          <p:nvPr/>
        </p:nvSpPr>
        <p:spPr>
          <a:xfrm rot="0">
            <a:off x="10142629" y="5545561"/>
            <a:ext cx="2147942" cy="356169"/>
          </a:xfrm>
          <a:prstGeom prst="rect">
            <a:avLst/>
          </a:prstGeom>
        </p:spPr>
        <p:txBody>
          <a:bodyPr anchor="t" rtlCol="false" tIns="0" lIns="0" bIns="0" rIns="0">
            <a:spAutoFit/>
          </a:bodyPr>
          <a:lstStyle/>
          <a:p>
            <a:pPr algn="ctr">
              <a:lnSpc>
                <a:spcPts val="2940"/>
              </a:lnSpc>
            </a:pPr>
            <a:r>
              <a:rPr lang="en-US" b="true" sz="2100">
                <a:solidFill>
                  <a:srgbClr val="FFFFFF"/>
                </a:solidFill>
                <a:latin typeface="Montserrat Bold"/>
                <a:ea typeface="Montserrat Bold"/>
                <a:cs typeface="Montserrat Bold"/>
                <a:sym typeface="Montserrat Bold"/>
              </a:rPr>
              <a:t>RULES 2</a:t>
            </a:r>
          </a:p>
        </p:txBody>
      </p:sp>
      <p:sp>
        <p:nvSpPr>
          <p:cNvPr name="Freeform 11" id="11"/>
          <p:cNvSpPr/>
          <p:nvPr/>
        </p:nvSpPr>
        <p:spPr>
          <a:xfrm flipH="false" flipV="false" rot="0">
            <a:off x="0" y="8310198"/>
            <a:ext cx="1756883" cy="1976802"/>
          </a:xfrm>
          <a:custGeom>
            <a:avLst/>
            <a:gdLst/>
            <a:ahLst/>
            <a:cxnLst/>
            <a:rect r="r" b="b" t="t" l="l"/>
            <a:pathLst>
              <a:path h="1976802" w="1756883">
                <a:moveTo>
                  <a:pt x="0" y="0"/>
                </a:moveTo>
                <a:lnTo>
                  <a:pt x="1756883" y="0"/>
                </a:lnTo>
                <a:lnTo>
                  <a:pt x="1756883" y="1976802"/>
                </a:lnTo>
                <a:lnTo>
                  <a:pt x="0" y="19768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6195369" y="134869"/>
            <a:ext cx="11899900" cy="6672280"/>
            <a:chOff x="0" y="0"/>
            <a:chExt cx="15866533" cy="8896373"/>
          </a:xfrm>
        </p:grpSpPr>
        <p:pic>
          <p:nvPicPr>
            <p:cNvPr name="Picture 13" id="13"/>
            <p:cNvPicPr>
              <a:picLocks noChangeAspect="true"/>
            </p:cNvPicPr>
            <p:nvPr/>
          </p:nvPicPr>
          <p:blipFill>
            <a:blip r:embed="rId11"/>
            <a:srcRect l="1511" t="0" r="1511" b="0"/>
            <a:stretch>
              <a:fillRect/>
            </a:stretch>
          </p:blipFill>
          <p:spPr>
            <a:xfrm flipH="false" flipV="false">
              <a:off x="0" y="0"/>
              <a:ext cx="15866533" cy="8896373"/>
            </a:xfrm>
            <a:prstGeom prst="rect">
              <a:avLst/>
            </a:prstGeom>
          </p:spPr>
        </p:pic>
      </p:grpSp>
      <p:sp>
        <p:nvSpPr>
          <p:cNvPr name="TextBox 14" id="14"/>
          <p:cNvSpPr txBox="true"/>
          <p:nvPr/>
        </p:nvSpPr>
        <p:spPr>
          <a:xfrm rot="0">
            <a:off x="2754689" y="6411269"/>
            <a:ext cx="15168229" cy="3612279"/>
          </a:xfrm>
          <a:prstGeom prst="rect">
            <a:avLst/>
          </a:prstGeom>
        </p:spPr>
        <p:txBody>
          <a:bodyPr anchor="t" rtlCol="false" tIns="0" lIns="0" bIns="0" rIns="0">
            <a:spAutoFit/>
          </a:bodyPr>
          <a:lstStyle/>
          <a:p>
            <a:pPr algn="l">
              <a:lnSpc>
                <a:spcPts val="4103"/>
              </a:lnSpc>
            </a:pPr>
          </a:p>
          <a:p>
            <a:pPr algn="l" marL="632857" indent="-316429" lvl="1">
              <a:lnSpc>
                <a:spcPts val="4103"/>
              </a:lnSpc>
              <a:buFont typeface="Arial"/>
              <a:buChar char="•"/>
            </a:pPr>
            <a:r>
              <a:rPr lang="en-US" sz="2931">
                <a:solidFill>
                  <a:srgbClr val="1D1D1D"/>
                </a:solidFill>
                <a:latin typeface="Montserrat"/>
                <a:ea typeface="Montserrat"/>
                <a:cs typeface="Montserrat"/>
                <a:sym typeface="Montserrat"/>
              </a:rPr>
              <a:t>La secuencia muestra cómo el usuario inicia sesión en la SPA React, obtiene su token con Firebase Auth, se suscriben sus datos en Firestore, luego sube el PGN; la app evalúa posiciones con Stockfish (WASM/HTTP), persiste jugadas y resultados en Firestore y finalmente actualiza la interfaz en tiempo real para mostrar el feedback y resumen del análisis.</a:t>
            </a:r>
          </a:p>
          <a:p>
            <a:pPr algn="l">
              <a:lnSpc>
                <a:spcPts val="4103"/>
              </a:lnSpc>
            </a:pPr>
          </a:p>
        </p:txBody>
      </p:sp>
      <p:sp>
        <p:nvSpPr>
          <p:cNvPr name="TextBox 15" id="15"/>
          <p:cNvSpPr txBox="true"/>
          <p:nvPr/>
        </p:nvSpPr>
        <p:spPr>
          <a:xfrm rot="0">
            <a:off x="984990" y="2599006"/>
            <a:ext cx="7801875" cy="243205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Diagrama de secuencia </a:t>
            </a:r>
          </a:p>
        </p:txBody>
      </p:sp>
      <p:sp>
        <p:nvSpPr>
          <p:cNvPr name="TextBox 16" id="16"/>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4614698" y="8222701"/>
            <a:ext cx="8344335" cy="8229600"/>
          </a:xfrm>
          <a:custGeom>
            <a:avLst/>
            <a:gdLst/>
            <a:ahLst/>
            <a:cxnLst/>
            <a:rect r="r" b="b" t="t" l="l"/>
            <a:pathLst>
              <a:path h="8229600" w="8344335">
                <a:moveTo>
                  <a:pt x="8344335" y="0"/>
                </a:moveTo>
                <a:lnTo>
                  <a:pt x="0" y="0"/>
                </a:lnTo>
                <a:lnTo>
                  <a:pt x="0" y="8229600"/>
                </a:lnTo>
                <a:lnTo>
                  <a:pt x="8344335" y="8229600"/>
                </a:lnTo>
                <a:lnTo>
                  <a:pt x="8344335" y="0"/>
                </a:lnTo>
                <a:close/>
              </a:path>
            </a:pathLst>
          </a:custGeom>
          <a:blipFill>
            <a:blip r:embed="rId6">
              <a:alphaModFix amt="5000"/>
            </a:blip>
            <a:stretch>
              <a:fillRect l="0" t="0" r="0" b="0"/>
            </a:stretch>
          </a:blipFill>
        </p:spPr>
      </p:sp>
      <p:sp>
        <p:nvSpPr>
          <p:cNvPr name="Freeform 5" id="5"/>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6">
              <a:alphaModFix amt="5000"/>
            </a:blip>
            <a:stretch>
              <a:fillRect l="0" t="0" r="0" b="0"/>
            </a:stretch>
          </a:blipFill>
        </p:spPr>
      </p:sp>
      <p:sp>
        <p:nvSpPr>
          <p:cNvPr name="Freeform 6" id="6"/>
          <p:cNvSpPr/>
          <p:nvPr/>
        </p:nvSpPr>
        <p:spPr>
          <a:xfrm flipH="false" flipV="false" rot="0">
            <a:off x="9070394" y="4990245"/>
            <a:ext cx="4292412" cy="128772"/>
          </a:xfrm>
          <a:custGeom>
            <a:avLst/>
            <a:gdLst/>
            <a:ahLst/>
            <a:cxnLst/>
            <a:rect r="r" b="b" t="t" l="l"/>
            <a:pathLst>
              <a:path h="128772" w="4292412">
                <a:moveTo>
                  <a:pt x="0" y="0"/>
                </a:moveTo>
                <a:lnTo>
                  <a:pt x="4292412" y="0"/>
                </a:lnTo>
                <a:lnTo>
                  <a:pt x="4292412" y="128772"/>
                </a:lnTo>
                <a:lnTo>
                  <a:pt x="0" y="1287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009232" y="3387300"/>
            <a:ext cx="2414736" cy="1098986"/>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Presentations are tools that can be used as</a:t>
            </a:r>
          </a:p>
        </p:txBody>
      </p:sp>
      <p:sp>
        <p:nvSpPr>
          <p:cNvPr name="TextBox 8" id="8"/>
          <p:cNvSpPr txBox="true"/>
          <p:nvPr/>
        </p:nvSpPr>
        <p:spPr>
          <a:xfrm rot="0">
            <a:off x="10142629" y="2694256"/>
            <a:ext cx="2147942" cy="356169"/>
          </a:xfrm>
          <a:prstGeom prst="rect">
            <a:avLst/>
          </a:prstGeom>
        </p:spPr>
        <p:txBody>
          <a:bodyPr anchor="t" rtlCol="false" tIns="0" lIns="0" bIns="0" rIns="0">
            <a:spAutoFit/>
          </a:bodyPr>
          <a:lstStyle/>
          <a:p>
            <a:pPr algn="ctr">
              <a:lnSpc>
                <a:spcPts val="2940"/>
              </a:lnSpc>
            </a:pPr>
            <a:r>
              <a:rPr lang="en-US" b="true" sz="2100">
                <a:solidFill>
                  <a:srgbClr val="FFFFFF"/>
                </a:solidFill>
                <a:latin typeface="Montserrat Bold"/>
                <a:ea typeface="Montserrat Bold"/>
                <a:cs typeface="Montserrat Bold"/>
                <a:sym typeface="Montserrat Bold"/>
              </a:rPr>
              <a:t>RULES 1</a:t>
            </a:r>
          </a:p>
        </p:txBody>
      </p:sp>
      <p:sp>
        <p:nvSpPr>
          <p:cNvPr name="TextBox 9" id="9"/>
          <p:cNvSpPr txBox="true"/>
          <p:nvPr/>
        </p:nvSpPr>
        <p:spPr>
          <a:xfrm rot="0">
            <a:off x="10009232" y="6238605"/>
            <a:ext cx="2414736" cy="1098986"/>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Presentations are tools that can be used as</a:t>
            </a:r>
          </a:p>
        </p:txBody>
      </p:sp>
      <p:sp>
        <p:nvSpPr>
          <p:cNvPr name="TextBox 10" id="10"/>
          <p:cNvSpPr txBox="true"/>
          <p:nvPr/>
        </p:nvSpPr>
        <p:spPr>
          <a:xfrm rot="0">
            <a:off x="10142629" y="5545561"/>
            <a:ext cx="2147942" cy="356169"/>
          </a:xfrm>
          <a:prstGeom prst="rect">
            <a:avLst/>
          </a:prstGeom>
        </p:spPr>
        <p:txBody>
          <a:bodyPr anchor="t" rtlCol="false" tIns="0" lIns="0" bIns="0" rIns="0">
            <a:spAutoFit/>
          </a:bodyPr>
          <a:lstStyle/>
          <a:p>
            <a:pPr algn="ctr">
              <a:lnSpc>
                <a:spcPts val="2940"/>
              </a:lnSpc>
            </a:pPr>
            <a:r>
              <a:rPr lang="en-US" b="true" sz="2100">
                <a:solidFill>
                  <a:srgbClr val="FFFFFF"/>
                </a:solidFill>
                <a:latin typeface="Montserrat Bold"/>
                <a:ea typeface="Montserrat Bold"/>
                <a:cs typeface="Montserrat Bold"/>
                <a:sym typeface="Montserrat Bold"/>
              </a:rPr>
              <a:t>RULES 2</a:t>
            </a:r>
          </a:p>
        </p:txBody>
      </p:sp>
      <p:sp>
        <p:nvSpPr>
          <p:cNvPr name="Freeform 11" id="11"/>
          <p:cNvSpPr/>
          <p:nvPr/>
        </p:nvSpPr>
        <p:spPr>
          <a:xfrm flipH="false" flipV="false" rot="0">
            <a:off x="0" y="8310198"/>
            <a:ext cx="1756883" cy="1976802"/>
          </a:xfrm>
          <a:custGeom>
            <a:avLst/>
            <a:gdLst/>
            <a:ahLst/>
            <a:cxnLst/>
            <a:rect r="r" b="b" t="t" l="l"/>
            <a:pathLst>
              <a:path h="1976802" w="1756883">
                <a:moveTo>
                  <a:pt x="0" y="0"/>
                </a:moveTo>
                <a:lnTo>
                  <a:pt x="1756883" y="0"/>
                </a:lnTo>
                <a:lnTo>
                  <a:pt x="1756883" y="1976802"/>
                </a:lnTo>
                <a:lnTo>
                  <a:pt x="0" y="19768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6059145" y="-886807"/>
            <a:ext cx="12036123" cy="7898291"/>
            <a:chOff x="0" y="0"/>
            <a:chExt cx="16048164" cy="10531055"/>
          </a:xfrm>
        </p:grpSpPr>
        <p:pic>
          <p:nvPicPr>
            <p:cNvPr name="Picture 13" id="13"/>
            <p:cNvPicPr>
              <a:picLocks noChangeAspect="true"/>
            </p:cNvPicPr>
            <p:nvPr/>
          </p:nvPicPr>
          <p:blipFill>
            <a:blip r:embed="rId11"/>
            <a:srcRect l="3729" t="0" r="3729" b="0"/>
            <a:stretch>
              <a:fillRect/>
            </a:stretch>
          </p:blipFill>
          <p:spPr>
            <a:xfrm flipH="false" flipV="false">
              <a:off x="0" y="0"/>
              <a:ext cx="16048164" cy="10531055"/>
            </a:xfrm>
            <a:prstGeom prst="rect">
              <a:avLst/>
            </a:prstGeom>
          </p:spPr>
        </p:pic>
      </p:grpSp>
      <p:sp>
        <p:nvSpPr>
          <p:cNvPr name="TextBox 14" id="14"/>
          <p:cNvSpPr txBox="true"/>
          <p:nvPr/>
        </p:nvSpPr>
        <p:spPr>
          <a:xfrm rot="0">
            <a:off x="1528677" y="6411269"/>
            <a:ext cx="16394240" cy="3301206"/>
          </a:xfrm>
          <a:prstGeom prst="rect">
            <a:avLst/>
          </a:prstGeom>
        </p:spPr>
        <p:txBody>
          <a:bodyPr anchor="t" rtlCol="false" tIns="0" lIns="0" bIns="0" rIns="0">
            <a:spAutoFit/>
          </a:bodyPr>
          <a:lstStyle/>
          <a:p>
            <a:pPr algn="l">
              <a:lnSpc>
                <a:spcPts val="4103"/>
              </a:lnSpc>
            </a:pPr>
          </a:p>
          <a:p>
            <a:pPr algn="l">
              <a:lnSpc>
                <a:spcPts val="3683"/>
              </a:lnSpc>
            </a:pPr>
            <a:r>
              <a:rPr lang="en-US" sz="2631">
                <a:solidFill>
                  <a:srgbClr val="1D1D1D"/>
                </a:solidFill>
                <a:latin typeface="Montserrat"/>
                <a:ea typeface="Montserrat"/>
                <a:cs typeface="Montserrat"/>
                <a:sym typeface="Montserrat"/>
              </a:rPr>
              <a:t>El diagrama de arquitectura muestra una SPA en React 18 conectada a Firebase Auth para inicio de sesión seguro y a Firestore como base de datos principal donde se guardan usuarios, sesiones y resultados de análisis; opcionalmente se usa Cloud Storage para almacenar PGN y exportaciones, y Cloud Functions como capa de API que ejecuta análisis con Stockfish (en WASM y/o servidor), valida tokens y orquesta el flujo; todo bajo reglas de seguridad y auditoría básicas que aseguran integridad, trazabilidad y protección de la información de los jugadores.</a:t>
            </a:r>
          </a:p>
        </p:txBody>
      </p:sp>
      <p:sp>
        <p:nvSpPr>
          <p:cNvPr name="TextBox 15" id="15"/>
          <p:cNvSpPr txBox="true"/>
          <p:nvPr/>
        </p:nvSpPr>
        <p:spPr>
          <a:xfrm rot="0">
            <a:off x="525236" y="2558193"/>
            <a:ext cx="7801875" cy="243205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Diagrama de arquitectura </a:t>
            </a:r>
          </a:p>
        </p:txBody>
      </p:sp>
      <p:sp>
        <p:nvSpPr>
          <p:cNvPr name="TextBox 16" id="16"/>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6754" y="444294"/>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777727" y="1028700"/>
            <a:ext cx="7542420" cy="5347676"/>
            <a:chOff x="0" y="0"/>
            <a:chExt cx="10056561" cy="7130234"/>
          </a:xfrm>
        </p:grpSpPr>
        <p:pic>
          <p:nvPicPr>
            <p:cNvPr name="Picture 5" id="5"/>
            <p:cNvPicPr>
              <a:picLocks noChangeAspect="true"/>
            </p:cNvPicPr>
            <p:nvPr/>
          </p:nvPicPr>
          <p:blipFill>
            <a:blip r:embed="rId6"/>
            <a:srcRect l="3841" t="0" r="3841" b="0"/>
            <a:stretch>
              <a:fillRect/>
            </a:stretch>
          </p:blipFill>
          <p:spPr>
            <a:xfrm flipH="false" flipV="false">
              <a:off x="0" y="0"/>
              <a:ext cx="10056561" cy="7130234"/>
            </a:xfrm>
            <a:prstGeom prst="rect">
              <a:avLst/>
            </a:prstGeom>
          </p:spPr>
        </p:pic>
      </p:grpSp>
      <p:sp>
        <p:nvSpPr>
          <p:cNvPr name="Freeform 6" id="6"/>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7">
              <a:alphaModFix amt="5000"/>
            </a:blip>
            <a:stretch>
              <a:fillRect l="0" t="0" r="0" b="0"/>
            </a:stretch>
          </a:blipFill>
        </p:spPr>
      </p:sp>
      <p:sp>
        <p:nvSpPr>
          <p:cNvPr name="TextBox 7" id="7"/>
          <p:cNvSpPr txBox="true"/>
          <p:nvPr/>
        </p:nvSpPr>
        <p:spPr>
          <a:xfrm rot="-5400000">
            <a:off x="15023750" y="7022816"/>
            <a:ext cx="4114800" cy="356169"/>
          </a:xfrm>
          <a:prstGeom prst="rect">
            <a:avLst/>
          </a:prstGeom>
        </p:spPr>
        <p:txBody>
          <a:bodyPr anchor="t" rtlCol="false" tIns="0" lIns="0" bIns="0" rIns="0">
            <a:spAutoFit/>
          </a:bodyPr>
          <a:lstStyle/>
          <a:p>
            <a:pPr algn="l">
              <a:lnSpc>
                <a:spcPts val="2940"/>
              </a:lnSpc>
            </a:pPr>
            <a:r>
              <a:rPr lang="en-US" sz="2100" spc="273">
                <a:solidFill>
                  <a:srgbClr val="1D1D1D"/>
                </a:solidFill>
                <a:latin typeface="Montserrat"/>
                <a:ea typeface="Montserrat"/>
                <a:cs typeface="Montserrat"/>
                <a:sym typeface="Montserrat"/>
              </a:rPr>
              <a:t>reallygreatsite.com</a:t>
            </a:r>
          </a:p>
        </p:txBody>
      </p:sp>
      <p:sp>
        <p:nvSpPr>
          <p:cNvPr name="TextBox 8" id="8"/>
          <p:cNvSpPr txBox="true"/>
          <p:nvPr/>
        </p:nvSpPr>
        <p:spPr>
          <a:xfrm rot="-5400000">
            <a:off x="16357021" y="2056348"/>
            <a:ext cx="1448257" cy="356169"/>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02</a:t>
            </a:r>
          </a:p>
        </p:txBody>
      </p:sp>
      <p:sp>
        <p:nvSpPr>
          <p:cNvPr name="TextBox 9" id="9"/>
          <p:cNvSpPr txBox="true"/>
          <p:nvPr/>
        </p:nvSpPr>
        <p:spPr>
          <a:xfrm rot="0">
            <a:off x="9789082" y="3345683"/>
            <a:ext cx="5683149" cy="2956559"/>
          </a:xfrm>
          <a:prstGeom prst="rect">
            <a:avLst/>
          </a:prstGeom>
        </p:spPr>
        <p:txBody>
          <a:bodyPr anchor="t" rtlCol="false" tIns="0" lIns="0" bIns="0" rIns="0">
            <a:spAutoFit/>
          </a:bodyPr>
          <a:lstStyle/>
          <a:p>
            <a:pPr algn="l" marL="453395" indent="-226697" lvl="1">
              <a:lnSpc>
                <a:spcPts val="2940"/>
              </a:lnSpc>
              <a:buFont typeface="Arial"/>
              <a:buChar char="•"/>
            </a:pPr>
            <a:r>
              <a:rPr lang="en-US" sz="2100">
                <a:solidFill>
                  <a:srgbClr val="1D1D1D"/>
                </a:solidFill>
                <a:latin typeface="Montserrat"/>
                <a:ea typeface="Montserrat"/>
                <a:cs typeface="Montserrat"/>
                <a:sym typeface="Montserrat"/>
              </a:rPr>
              <a:t>Desarrollo web e IA aplicada (React + motor de análisis).</a:t>
            </a:r>
          </a:p>
          <a:p>
            <a:pPr algn="l" marL="453395" indent="-226697" lvl="1">
              <a:lnSpc>
                <a:spcPts val="2940"/>
              </a:lnSpc>
              <a:buFont typeface="Arial"/>
              <a:buChar char="•"/>
            </a:pPr>
            <a:r>
              <a:rPr lang="en-US" sz="2100">
                <a:solidFill>
                  <a:srgbClr val="1D1D1D"/>
                </a:solidFill>
                <a:latin typeface="Montserrat"/>
                <a:ea typeface="Montserrat"/>
                <a:cs typeface="Montserrat"/>
                <a:sym typeface="Montserrat"/>
              </a:rPr>
              <a:t>Tecnología educativa (EdTech) con impacto de aprendizaje medible.</a:t>
            </a:r>
          </a:p>
          <a:p>
            <a:pPr algn="l" marL="453395" indent="-226697" lvl="1">
              <a:lnSpc>
                <a:spcPts val="2940"/>
              </a:lnSpc>
              <a:buFont typeface="Arial"/>
              <a:buChar char="•"/>
            </a:pPr>
            <a:r>
              <a:rPr lang="en-US" sz="2100">
                <a:solidFill>
                  <a:srgbClr val="1D1D1D"/>
                </a:solidFill>
                <a:latin typeface="Montserrat"/>
                <a:ea typeface="Montserrat"/>
                <a:cs typeface="Montserrat"/>
                <a:sym typeface="Montserrat"/>
              </a:rPr>
              <a:t>Metodologías ágiles (Scrum), gestión de código (Git/GitHub) y documentación técnica.</a:t>
            </a:r>
          </a:p>
          <a:p>
            <a:pPr algn="l">
              <a:lnSpc>
                <a:spcPts val="2940"/>
              </a:lnSpc>
            </a:pPr>
          </a:p>
        </p:txBody>
      </p:sp>
      <p:sp>
        <p:nvSpPr>
          <p:cNvPr name="TextBox 10" id="10"/>
          <p:cNvSpPr txBox="true"/>
          <p:nvPr/>
        </p:nvSpPr>
        <p:spPr>
          <a:xfrm rot="0">
            <a:off x="1998516" y="7310897"/>
            <a:ext cx="2751871" cy="356234"/>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Registrados</a:t>
            </a:r>
          </a:p>
        </p:txBody>
      </p:sp>
      <p:sp>
        <p:nvSpPr>
          <p:cNvPr name="TextBox 11" id="11"/>
          <p:cNvSpPr txBox="true"/>
          <p:nvPr/>
        </p:nvSpPr>
        <p:spPr>
          <a:xfrm rot="0">
            <a:off x="5672317" y="7310897"/>
            <a:ext cx="2751871" cy="356234"/>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Usuarios activos</a:t>
            </a:r>
          </a:p>
        </p:txBody>
      </p:sp>
      <p:sp>
        <p:nvSpPr>
          <p:cNvPr name="TextBox 12" id="12"/>
          <p:cNvSpPr txBox="true"/>
          <p:nvPr/>
        </p:nvSpPr>
        <p:spPr>
          <a:xfrm rot="0">
            <a:off x="9976771" y="951731"/>
            <a:ext cx="6108536" cy="243205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Evidencias técnicas</a:t>
            </a:r>
          </a:p>
        </p:txBody>
      </p:sp>
      <p:sp>
        <p:nvSpPr>
          <p:cNvPr name="TextBox 13" id="13"/>
          <p:cNvSpPr txBox="true"/>
          <p:nvPr/>
        </p:nvSpPr>
        <p:spPr>
          <a:xfrm rot="0">
            <a:off x="5674304" y="6250158"/>
            <a:ext cx="2751871" cy="1099819"/>
          </a:xfrm>
          <a:prstGeom prst="rect">
            <a:avLst/>
          </a:prstGeom>
        </p:spPr>
        <p:txBody>
          <a:bodyPr anchor="t" rtlCol="false" tIns="0" lIns="0" bIns="0" rIns="0">
            <a:spAutoFit/>
          </a:bodyPr>
          <a:lstStyle/>
          <a:p>
            <a:pPr algn="ctr">
              <a:lnSpc>
                <a:spcPts val="4480"/>
              </a:lnSpc>
            </a:pPr>
            <a:r>
              <a:rPr lang="en-US" sz="3200" b="true">
                <a:solidFill>
                  <a:srgbClr val="FFFFFF"/>
                </a:solidFill>
                <a:latin typeface="Glacial Indifference Bold"/>
                <a:ea typeface="Glacial Indifference Bold"/>
                <a:cs typeface="Glacial Indifference Bold"/>
                <a:sym typeface="Glacial Indifference Bold"/>
              </a:rPr>
              <a:t>↑45% CRECIMIENTO</a:t>
            </a:r>
          </a:p>
        </p:txBody>
      </p:sp>
      <p:sp>
        <p:nvSpPr>
          <p:cNvPr name="TextBox 14" id="14"/>
          <p:cNvSpPr txBox="true"/>
          <p:nvPr/>
        </p:nvSpPr>
        <p:spPr>
          <a:xfrm rot="0">
            <a:off x="1378840" y="589785"/>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grpSp>
        <p:nvGrpSpPr>
          <p:cNvPr name="Group 15" id="15"/>
          <p:cNvGrpSpPr/>
          <p:nvPr/>
        </p:nvGrpSpPr>
        <p:grpSpPr>
          <a:xfrm rot="0">
            <a:off x="732853" y="6433526"/>
            <a:ext cx="7693321" cy="4355521"/>
            <a:chOff x="0" y="0"/>
            <a:chExt cx="10257762" cy="5807362"/>
          </a:xfrm>
        </p:grpSpPr>
        <p:pic>
          <p:nvPicPr>
            <p:cNvPr name="Picture 16" id="16"/>
            <p:cNvPicPr>
              <a:picLocks noChangeAspect="true"/>
            </p:cNvPicPr>
            <p:nvPr/>
          </p:nvPicPr>
          <p:blipFill>
            <a:blip r:embed="rId8"/>
            <a:srcRect l="0" t="5644" r="0" b="5644"/>
            <a:stretch>
              <a:fillRect/>
            </a:stretch>
          </p:blipFill>
          <p:spPr>
            <a:xfrm flipH="false" flipV="false">
              <a:off x="0" y="0"/>
              <a:ext cx="10257762" cy="5807362"/>
            </a:xfrm>
            <a:prstGeom prst="rect">
              <a:avLst/>
            </a:prstGeom>
          </p:spPr>
        </p:pic>
      </p:grpSp>
      <p:grpSp>
        <p:nvGrpSpPr>
          <p:cNvPr name="Group 17" id="17"/>
          <p:cNvGrpSpPr/>
          <p:nvPr/>
        </p:nvGrpSpPr>
        <p:grpSpPr>
          <a:xfrm rot="0">
            <a:off x="9489580" y="6416542"/>
            <a:ext cx="3295902" cy="2195135"/>
            <a:chOff x="0" y="0"/>
            <a:chExt cx="868056" cy="578142"/>
          </a:xfrm>
        </p:grpSpPr>
        <p:sp>
          <p:nvSpPr>
            <p:cNvPr name="Freeform 18" id="18"/>
            <p:cNvSpPr/>
            <p:nvPr/>
          </p:nvSpPr>
          <p:spPr>
            <a:xfrm flipH="false" flipV="false" rot="0">
              <a:off x="0" y="0"/>
              <a:ext cx="868056" cy="578142"/>
            </a:xfrm>
            <a:custGeom>
              <a:avLst/>
              <a:gdLst/>
              <a:ahLst/>
              <a:cxnLst/>
              <a:rect r="r" b="b" t="t" l="l"/>
              <a:pathLst>
                <a:path h="578142" w="868056">
                  <a:moveTo>
                    <a:pt x="0" y="0"/>
                  </a:moveTo>
                  <a:lnTo>
                    <a:pt x="868056" y="0"/>
                  </a:lnTo>
                  <a:lnTo>
                    <a:pt x="868056" y="578142"/>
                  </a:lnTo>
                  <a:lnTo>
                    <a:pt x="0" y="578142"/>
                  </a:lnTo>
                  <a:close/>
                </a:path>
              </a:pathLst>
            </a:custGeom>
            <a:solidFill>
              <a:srgbClr val="03989E"/>
            </a:solidFill>
          </p:spPr>
        </p:sp>
        <p:sp>
          <p:nvSpPr>
            <p:cNvPr name="TextBox 19" id="19"/>
            <p:cNvSpPr txBox="true"/>
            <p:nvPr/>
          </p:nvSpPr>
          <p:spPr>
            <a:xfrm>
              <a:off x="0" y="-38100"/>
              <a:ext cx="868056" cy="616242"/>
            </a:xfrm>
            <a:prstGeom prst="rect">
              <a:avLst/>
            </a:prstGeom>
          </p:spPr>
          <p:txBody>
            <a:bodyPr anchor="ctr" rtlCol="false" tIns="50800" lIns="50800" bIns="50800" rIns="50800"/>
            <a:lstStyle/>
            <a:p>
              <a:pPr algn="ctr">
                <a:lnSpc>
                  <a:spcPts val="2940"/>
                </a:lnSpc>
              </a:pPr>
            </a:p>
          </p:txBody>
        </p:sp>
      </p:grpSp>
      <p:grpSp>
        <p:nvGrpSpPr>
          <p:cNvPr name="Group 20" id="20"/>
          <p:cNvGrpSpPr/>
          <p:nvPr/>
        </p:nvGrpSpPr>
        <p:grpSpPr>
          <a:xfrm rot="0">
            <a:off x="13134985" y="6416542"/>
            <a:ext cx="3295902" cy="2195135"/>
            <a:chOff x="0" y="0"/>
            <a:chExt cx="868056" cy="578142"/>
          </a:xfrm>
        </p:grpSpPr>
        <p:sp>
          <p:nvSpPr>
            <p:cNvPr name="Freeform 21" id="21"/>
            <p:cNvSpPr/>
            <p:nvPr/>
          </p:nvSpPr>
          <p:spPr>
            <a:xfrm flipH="false" flipV="false" rot="0">
              <a:off x="0" y="0"/>
              <a:ext cx="868056" cy="578142"/>
            </a:xfrm>
            <a:custGeom>
              <a:avLst/>
              <a:gdLst/>
              <a:ahLst/>
              <a:cxnLst/>
              <a:rect r="r" b="b" t="t" l="l"/>
              <a:pathLst>
                <a:path h="578142" w="868056">
                  <a:moveTo>
                    <a:pt x="0" y="0"/>
                  </a:moveTo>
                  <a:lnTo>
                    <a:pt x="868056" y="0"/>
                  </a:lnTo>
                  <a:lnTo>
                    <a:pt x="868056" y="578142"/>
                  </a:lnTo>
                  <a:lnTo>
                    <a:pt x="0" y="578142"/>
                  </a:lnTo>
                  <a:close/>
                </a:path>
              </a:pathLst>
            </a:custGeom>
            <a:solidFill>
              <a:srgbClr val="03989E"/>
            </a:solidFill>
          </p:spPr>
        </p:sp>
        <p:sp>
          <p:nvSpPr>
            <p:cNvPr name="TextBox 22" id="22"/>
            <p:cNvSpPr txBox="true"/>
            <p:nvPr/>
          </p:nvSpPr>
          <p:spPr>
            <a:xfrm>
              <a:off x="0" y="-38100"/>
              <a:ext cx="868056" cy="616242"/>
            </a:xfrm>
            <a:prstGeom prst="rect">
              <a:avLst/>
            </a:prstGeom>
          </p:spPr>
          <p:txBody>
            <a:bodyPr anchor="ctr" rtlCol="false" tIns="50800" lIns="50800" bIns="50800" rIns="50800"/>
            <a:lstStyle/>
            <a:p>
              <a:pPr algn="ctr">
                <a:lnSpc>
                  <a:spcPts val="2940"/>
                </a:lnSpc>
              </a:pPr>
            </a:p>
          </p:txBody>
        </p:sp>
      </p:grpSp>
      <p:sp>
        <p:nvSpPr>
          <p:cNvPr name="TextBox 23" id="23"/>
          <p:cNvSpPr txBox="true"/>
          <p:nvPr/>
        </p:nvSpPr>
        <p:spPr>
          <a:xfrm rot="0">
            <a:off x="9731213" y="7622490"/>
            <a:ext cx="2751871" cy="356234"/>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Registrados</a:t>
            </a:r>
          </a:p>
        </p:txBody>
      </p:sp>
      <p:sp>
        <p:nvSpPr>
          <p:cNvPr name="TextBox 24" id="24"/>
          <p:cNvSpPr txBox="true"/>
          <p:nvPr/>
        </p:nvSpPr>
        <p:spPr>
          <a:xfrm rot="0">
            <a:off x="13405014" y="7622490"/>
            <a:ext cx="2751871" cy="356234"/>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Usuarios activos</a:t>
            </a:r>
          </a:p>
        </p:txBody>
      </p:sp>
      <p:sp>
        <p:nvSpPr>
          <p:cNvPr name="TextBox 25" id="25"/>
          <p:cNvSpPr txBox="true"/>
          <p:nvPr/>
        </p:nvSpPr>
        <p:spPr>
          <a:xfrm rot="0">
            <a:off x="9761595" y="6889065"/>
            <a:ext cx="2751871" cy="771525"/>
          </a:xfrm>
          <a:prstGeom prst="rect">
            <a:avLst/>
          </a:prstGeom>
        </p:spPr>
        <p:txBody>
          <a:bodyPr anchor="t" rtlCol="false" tIns="0" lIns="0" bIns="0" rIns="0">
            <a:spAutoFit/>
          </a:bodyPr>
          <a:lstStyle/>
          <a:p>
            <a:pPr algn="ctr">
              <a:lnSpc>
                <a:spcPts val="6299"/>
              </a:lnSpc>
            </a:pPr>
            <a:r>
              <a:rPr lang="en-US" sz="4500" b="true">
                <a:solidFill>
                  <a:srgbClr val="FFFFFF"/>
                </a:solidFill>
                <a:latin typeface="Glacial Indifference Bold"/>
                <a:ea typeface="Glacial Indifference Bold"/>
                <a:cs typeface="Glacial Indifference Bold"/>
                <a:sym typeface="Glacial Indifference Bold"/>
              </a:rPr>
              <a:t>13.000</a:t>
            </a:r>
          </a:p>
        </p:txBody>
      </p:sp>
      <p:sp>
        <p:nvSpPr>
          <p:cNvPr name="TextBox 26" id="26"/>
          <p:cNvSpPr txBox="true"/>
          <p:nvPr/>
        </p:nvSpPr>
        <p:spPr>
          <a:xfrm rot="0">
            <a:off x="13407001" y="6561751"/>
            <a:ext cx="2751871" cy="1099819"/>
          </a:xfrm>
          <a:prstGeom prst="rect">
            <a:avLst/>
          </a:prstGeom>
        </p:spPr>
        <p:txBody>
          <a:bodyPr anchor="t" rtlCol="false" tIns="0" lIns="0" bIns="0" rIns="0">
            <a:spAutoFit/>
          </a:bodyPr>
          <a:lstStyle/>
          <a:p>
            <a:pPr algn="ctr">
              <a:lnSpc>
                <a:spcPts val="4480"/>
              </a:lnSpc>
            </a:pPr>
            <a:r>
              <a:rPr lang="en-US" sz="3200" b="true">
                <a:solidFill>
                  <a:srgbClr val="FFFFFF"/>
                </a:solidFill>
                <a:latin typeface="Glacial Indifference Bold"/>
                <a:ea typeface="Glacial Indifference Bold"/>
                <a:cs typeface="Glacial Indifference Bold"/>
                <a:sym typeface="Glacial Indifference Bold"/>
              </a:rPr>
              <a:t>↑45% CRECIMIENTO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4">
              <a:alphaModFix amt="5000"/>
            </a:blip>
            <a:stretch>
              <a:fillRect l="0" t="0" r="0" b="0"/>
            </a:stretch>
          </a:blipFill>
        </p:spPr>
      </p:sp>
      <p:sp>
        <p:nvSpPr>
          <p:cNvPr name="TextBox 4" id="4"/>
          <p:cNvSpPr txBox="true"/>
          <p:nvPr/>
        </p:nvSpPr>
        <p:spPr>
          <a:xfrm rot="-5400000">
            <a:off x="15023750" y="7022816"/>
            <a:ext cx="4114800" cy="356169"/>
          </a:xfrm>
          <a:prstGeom prst="rect">
            <a:avLst/>
          </a:prstGeom>
        </p:spPr>
        <p:txBody>
          <a:bodyPr anchor="t" rtlCol="false" tIns="0" lIns="0" bIns="0" rIns="0">
            <a:spAutoFit/>
          </a:bodyPr>
          <a:lstStyle/>
          <a:p>
            <a:pPr algn="l">
              <a:lnSpc>
                <a:spcPts val="2940"/>
              </a:lnSpc>
            </a:pPr>
            <a:r>
              <a:rPr lang="en-US" sz="2100" spc="273">
                <a:solidFill>
                  <a:srgbClr val="1D1D1D"/>
                </a:solidFill>
                <a:latin typeface="Montserrat"/>
                <a:ea typeface="Montserrat"/>
                <a:cs typeface="Montserrat"/>
                <a:sym typeface="Montserrat"/>
              </a:rPr>
              <a:t>reallygreatsite.com</a:t>
            </a:r>
          </a:p>
        </p:txBody>
      </p:sp>
      <p:sp>
        <p:nvSpPr>
          <p:cNvPr name="TextBox 5" id="5"/>
          <p:cNvSpPr txBox="true"/>
          <p:nvPr/>
        </p:nvSpPr>
        <p:spPr>
          <a:xfrm rot="0">
            <a:off x="4649893" y="2322657"/>
            <a:ext cx="5351945" cy="2585084"/>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Rafael se enfoca en la arquitectura general del sistema, decisiones tecnológicas clave, configuración de seguridad, buenas prácticas de código y diseño de pruebas técnicas, asegurando que la solución sea consistente y mantenible</a:t>
            </a:r>
          </a:p>
        </p:txBody>
      </p:sp>
      <p:sp>
        <p:nvSpPr>
          <p:cNvPr name="TextBox 6" id="6"/>
          <p:cNvSpPr txBox="true"/>
          <p:nvPr/>
        </p:nvSpPr>
        <p:spPr>
          <a:xfrm rot="0">
            <a:off x="6386742" y="-133350"/>
            <a:ext cx="9855010" cy="243205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Roles y reflexión del equipo</a:t>
            </a:r>
          </a:p>
        </p:txBody>
      </p:sp>
      <p:sp>
        <p:nvSpPr>
          <p:cNvPr name="TextBox 7" id="7"/>
          <p:cNvSpPr txBox="true"/>
          <p:nvPr/>
        </p:nvSpPr>
        <p:spPr>
          <a:xfrm rot="0">
            <a:off x="4491723" y="5570193"/>
            <a:ext cx="6822524" cy="295655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 Bruno lidera la interfaz, experiencia de usuario, organización de flujos, claridad visual, accesibilidad básica y preparación de la demo y materiales para la evaluación. En conjunto, ambos fortalecen competencias en trabajo colaborativo, gestión ágil, documentación, toma de decisiones justificadas  y en integrar criterios pedagógicos dentro de una solución técnica.</a:t>
            </a:r>
          </a:p>
        </p:txBody>
      </p:sp>
      <p:sp>
        <p:nvSpPr>
          <p:cNvPr name="TextBox 8" id="8"/>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grpSp>
        <p:nvGrpSpPr>
          <p:cNvPr name="Group 9" id="9"/>
          <p:cNvGrpSpPr/>
          <p:nvPr/>
        </p:nvGrpSpPr>
        <p:grpSpPr>
          <a:xfrm rot="0">
            <a:off x="863452" y="2124999"/>
            <a:ext cx="2932544" cy="3018501"/>
            <a:chOff x="0" y="0"/>
            <a:chExt cx="812800" cy="836624"/>
          </a:xfrm>
        </p:grpSpPr>
        <p:sp>
          <p:nvSpPr>
            <p:cNvPr name="Freeform 10" id="10"/>
            <p:cNvSpPr/>
            <p:nvPr/>
          </p:nvSpPr>
          <p:spPr>
            <a:xfrm flipH="false" flipV="false" rot="0">
              <a:off x="0" y="0"/>
              <a:ext cx="812800" cy="836624"/>
            </a:xfrm>
            <a:custGeom>
              <a:avLst/>
              <a:gdLst/>
              <a:ahLst/>
              <a:cxnLst/>
              <a:rect r="r" b="b" t="t" l="l"/>
              <a:pathLst>
                <a:path h="836624" w="812800">
                  <a:moveTo>
                    <a:pt x="406400" y="0"/>
                  </a:moveTo>
                  <a:cubicBezTo>
                    <a:pt x="181951" y="0"/>
                    <a:pt x="0" y="187285"/>
                    <a:pt x="0" y="418312"/>
                  </a:cubicBezTo>
                  <a:cubicBezTo>
                    <a:pt x="0" y="649340"/>
                    <a:pt x="181951" y="836624"/>
                    <a:pt x="406400" y="836624"/>
                  </a:cubicBezTo>
                  <a:cubicBezTo>
                    <a:pt x="630849" y="836624"/>
                    <a:pt x="812800" y="649340"/>
                    <a:pt x="812800" y="418312"/>
                  </a:cubicBezTo>
                  <a:cubicBezTo>
                    <a:pt x="812800" y="187285"/>
                    <a:pt x="630849" y="0"/>
                    <a:pt x="406400" y="0"/>
                  </a:cubicBezTo>
                  <a:close/>
                </a:path>
              </a:pathLst>
            </a:custGeom>
            <a:blipFill>
              <a:blip r:embed="rId5"/>
              <a:stretch>
                <a:fillRect l="-1465" t="0" r="-1465" b="0"/>
              </a:stretch>
            </a:blipFill>
          </p:spPr>
        </p:sp>
      </p:grpSp>
      <p:grpSp>
        <p:nvGrpSpPr>
          <p:cNvPr name="Group 11" id="11"/>
          <p:cNvGrpSpPr/>
          <p:nvPr/>
        </p:nvGrpSpPr>
        <p:grpSpPr>
          <a:xfrm rot="0">
            <a:off x="863452" y="5800725"/>
            <a:ext cx="2932544" cy="3018501"/>
            <a:chOff x="0" y="0"/>
            <a:chExt cx="812800" cy="836624"/>
          </a:xfrm>
        </p:grpSpPr>
        <p:sp>
          <p:nvSpPr>
            <p:cNvPr name="Freeform 12" id="12"/>
            <p:cNvSpPr/>
            <p:nvPr/>
          </p:nvSpPr>
          <p:spPr>
            <a:xfrm flipH="false" flipV="false" rot="0">
              <a:off x="0" y="0"/>
              <a:ext cx="812800" cy="836624"/>
            </a:xfrm>
            <a:custGeom>
              <a:avLst/>
              <a:gdLst/>
              <a:ahLst/>
              <a:cxnLst/>
              <a:rect r="r" b="b" t="t" l="l"/>
              <a:pathLst>
                <a:path h="836624" w="812800">
                  <a:moveTo>
                    <a:pt x="406400" y="0"/>
                  </a:moveTo>
                  <a:cubicBezTo>
                    <a:pt x="181951" y="0"/>
                    <a:pt x="0" y="187285"/>
                    <a:pt x="0" y="418312"/>
                  </a:cubicBezTo>
                  <a:cubicBezTo>
                    <a:pt x="0" y="649340"/>
                    <a:pt x="181951" y="836624"/>
                    <a:pt x="406400" y="836624"/>
                  </a:cubicBezTo>
                  <a:cubicBezTo>
                    <a:pt x="630849" y="836624"/>
                    <a:pt x="812800" y="649340"/>
                    <a:pt x="812800" y="418312"/>
                  </a:cubicBezTo>
                  <a:cubicBezTo>
                    <a:pt x="812800" y="187285"/>
                    <a:pt x="630849" y="0"/>
                    <a:pt x="406400" y="0"/>
                  </a:cubicBezTo>
                  <a:close/>
                </a:path>
              </a:pathLst>
            </a:custGeom>
            <a:blipFill>
              <a:blip r:embed="rId6"/>
              <a:stretch>
                <a:fillRect l="-1465" t="0" r="-1465" b="0"/>
              </a:stretch>
            </a:blipFill>
          </p:spPr>
        </p:sp>
      </p:grpSp>
      <p:sp>
        <p:nvSpPr>
          <p:cNvPr name="TextBox 13" id="13"/>
          <p:cNvSpPr txBox="true"/>
          <p:nvPr/>
        </p:nvSpPr>
        <p:spPr>
          <a:xfrm rot="0">
            <a:off x="11589220" y="2920460"/>
            <a:ext cx="5351945" cy="2585084"/>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Como equipo fortalecimos la comunicación, el trabajo con Scrum y las decisiones técnicas orientadas a seguridad, usabilidad y aprendizaje, quedando mejor preparados para la validación con usuarios reales y el cierre del proyecto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629602" y="4641126"/>
            <a:ext cx="8870155" cy="369950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El análisis por jugada tardará menos de tres segundos en navegador y menos de cinco en servidor, con disponibilidad mínima del noventa y nueve por ciento y con al menos ocho de cada diez usuarios completando el flujo de cargar, analizar y guardar con una usabilidad igual o superior a setenta sobre cien. En el piloto habrá entre seis y diez participantes y al menos treinta partidas, con retención cercana al cincuenta por ciento y mejoras de aprendizaje medibles, manteniendo revisión de código, pruebas suficientes, resolución rápida de incidentes, sesiones autenticadas y documentación completa.</a:t>
            </a:r>
          </a:p>
        </p:txBody>
      </p:sp>
      <p:sp>
        <p:nvSpPr>
          <p:cNvPr name="TextBox 3" id="3"/>
          <p:cNvSpPr txBox="true"/>
          <p:nvPr/>
        </p:nvSpPr>
        <p:spPr>
          <a:xfrm rot="0">
            <a:off x="9843413" y="961299"/>
            <a:ext cx="6398340" cy="367030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Resultados esperados (KPIs)</a:t>
            </a:r>
          </a:p>
        </p:txBody>
      </p:sp>
      <p:grpSp>
        <p:nvGrpSpPr>
          <p:cNvPr name="Group 4" id="4"/>
          <p:cNvGrpSpPr/>
          <p:nvPr/>
        </p:nvGrpSpPr>
        <p:grpSpPr>
          <a:xfrm rot="0">
            <a:off x="-114323" y="2233362"/>
            <a:ext cx="8503819" cy="5958138"/>
            <a:chOff x="0" y="0"/>
            <a:chExt cx="11338426" cy="7944184"/>
          </a:xfrm>
        </p:grpSpPr>
        <p:pic>
          <p:nvPicPr>
            <p:cNvPr name="Picture 5" id="5"/>
            <p:cNvPicPr>
              <a:picLocks noChangeAspect="true"/>
            </p:cNvPicPr>
            <p:nvPr/>
          </p:nvPicPr>
          <p:blipFill>
            <a:blip r:embed="rId2"/>
            <a:srcRect l="7271" t="0" r="7271" b="0"/>
            <a:stretch>
              <a:fillRect/>
            </a:stretch>
          </p:blipFill>
          <p:spPr>
            <a:xfrm flipH="false" flipV="false">
              <a:off x="0" y="0"/>
              <a:ext cx="11338426" cy="7944184"/>
            </a:xfrm>
            <a:prstGeom prst="rect">
              <a:avLst/>
            </a:prstGeom>
          </p:spPr>
        </p:pic>
      </p:grpSp>
      <p:sp>
        <p:nvSpPr>
          <p:cNvPr name="TextBox 6" id="6"/>
          <p:cNvSpPr txBox="true"/>
          <p:nvPr/>
        </p:nvSpPr>
        <p:spPr>
          <a:xfrm rot="0">
            <a:off x="8864528" y="7371258"/>
            <a:ext cx="3970068" cy="356168"/>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Professional Tournament</a:t>
            </a:r>
          </a:p>
        </p:txBody>
      </p:sp>
      <p:sp>
        <p:nvSpPr>
          <p:cNvPr name="TextBox 7" id="7"/>
          <p:cNvSpPr txBox="true"/>
          <p:nvPr/>
        </p:nvSpPr>
        <p:spPr>
          <a:xfrm rot="0">
            <a:off x="12834597" y="7371258"/>
            <a:ext cx="2751871" cy="356168"/>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World Cup</a:t>
            </a:r>
          </a:p>
        </p:txBody>
      </p:sp>
      <p:sp>
        <p:nvSpPr>
          <p:cNvPr name="TextBox 8" id="8"/>
          <p:cNvSpPr txBox="true"/>
          <p:nvPr/>
        </p:nvSpPr>
        <p:spPr>
          <a:xfrm rot="0">
            <a:off x="12834597" y="6588649"/>
            <a:ext cx="2751871" cy="771459"/>
          </a:xfrm>
          <a:prstGeom prst="rect">
            <a:avLst/>
          </a:prstGeom>
        </p:spPr>
        <p:txBody>
          <a:bodyPr anchor="t" rtlCol="false" tIns="0" lIns="0" bIns="0" rIns="0">
            <a:spAutoFit/>
          </a:bodyPr>
          <a:lstStyle/>
          <a:p>
            <a:pPr algn="ctr">
              <a:lnSpc>
                <a:spcPts val="6299"/>
              </a:lnSpc>
            </a:pPr>
            <a:r>
              <a:rPr lang="en-US" sz="4500" b="true">
                <a:solidFill>
                  <a:srgbClr val="FFFFFF"/>
                </a:solidFill>
                <a:latin typeface="Glacial Indifference Bold"/>
                <a:ea typeface="Glacial Indifference Bold"/>
                <a:cs typeface="Glacial Indifference Bold"/>
                <a:sym typeface="Glacial Indifference Bold"/>
              </a:rPr>
              <a:t>10</a:t>
            </a:r>
          </a:p>
        </p:txBody>
      </p:sp>
      <p:sp>
        <p:nvSpPr>
          <p:cNvPr name="Freeform 9" id="9"/>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7">
              <a:alphaModFix amt="5000"/>
            </a:blip>
            <a:stretch>
              <a:fillRect l="0" t="0" r="0" b="0"/>
            </a:stretch>
          </a:blipFill>
        </p:spPr>
      </p:sp>
      <p:sp>
        <p:nvSpPr>
          <p:cNvPr name="TextBox 12" id="12"/>
          <p:cNvSpPr txBox="true"/>
          <p:nvPr/>
        </p:nvSpPr>
        <p:spPr>
          <a:xfrm rot="-5400000">
            <a:off x="15023750" y="7022816"/>
            <a:ext cx="4114800" cy="356169"/>
          </a:xfrm>
          <a:prstGeom prst="rect">
            <a:avLst/>
          </a:prstGeom>
        </p:spPr>
        <p:txBody>
          <a:bodyPr anchor="t" rtlCol="false" tIns="0" lIns="0" bIns="0" rIns="0">
            <a:spAutoFit/>
          </a:bodyPr>
          <a:lstStyle/>
          <a:p>
            <a:pPr algn="l">
              <a:lnSpc>
                <a:spcPts val="2940"/>
              </a:lnSpc>
            </a:pPr>
            <a:r>
              <a:rPr lang="en-US" sz="2100" spc="273">
                <a:solidFill>
                  <a:srgbClr val="1D1D1D"/>
                </a:solidFill>
                <a:latin typeface="Montserrat"/>
                <a:ea typeface="Montserrat"/>
                <a:cs typeface="Montserrat"/>
                <a:sym typeface="Montserrat"/>
              </a:rPr>
              <a:t>reallygreatsite.com</a:t>
            </a:r>
          </a:p>
        </p:txBody>
      </p:sp>
      <p:sp>
        <p:nvSpPr>
          <p:cNvPr name="TextBox 13" id="13"/>
          <p:cNvSpPr txBox="true"/>
          <p:nvPr/>
        </p:nvSpPr>
        <p:spPr>
          <a:xfrm rot="-5400000">
            <a:off x="16357021" y="2056348"/>
            <a:ext cx="1448257" cy="356169"/>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09</a:t>
            </a:r>
          </a:p>
        </p:txBody>
      </p:sp>
      <p:sp>
        <p:nvSpPr>
          <p:cNvPr name="TextBox 14" id="14"/>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43413" y="961299"/>
            <a:ext cx="6398340" cy="119380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Conclusiones</a:t>
            </a:r>
          </a:p>
        </p:txBody>
      </p:sp>
      <p:grpSp>
        <p:nvGrpSpPr>
          <p:cNvPr name="Group 3" id="3"/>
          <p:cNvGrpSpPr/>
          <p:nvPr/>
        </p:nvGrpSpPr>
        <p:grpSpPr>
          <a:xfrm rot="0">
            <a:off x="143612" y="1632323"/>
            <a:ext cx="8503819" cy="5958138"/>
            <a:chOff x="0" y="0"/>
            <a:chExt cx="11338426" cy="7944184"/>
          </a:xfrm>
        </p:grpSpPr>
        <p:pic>
          <p:nvPicPr>
            <p:cNvPr name="Picture 4" id="4"/>
            <p:cNvPicPr>
              <a:picLocks noChangeAspect="true"/>
            </p:cNvPicPr>
            <p:nvPr/>
          </p:nvPicPr>
          <p:blipFill>
            <a:blip r:embed="rId2"/>
            <a:srcRect l="2454" t="0" r="2454" b="0"/>
            <a:stretch>
              <a:fillRect/>
            </a:stretch>
          </p:blipFill>
          <p:spPr>
            <a:xfrm flipH="false" flipV="false">
              <a:off x="0" y="0"/>
              <a:ext cx="11338426" cy="7944184"/>
            </a:xfrm>
            <a:prstGeom prst="rect">
              <a:avLst/>
            </a:prstGeom>
          </p:spPr>
        </p:pic>
      </p:grpSp>
      <p:sp>
        <p:nvSpPr>
          <p:cNvPr name="TextBox 5" id="5"/>
          <p:cNvSpPr txBox="true"/>
          <p:nvPr/>
        </p:nvSpPr>
        <p:spPr>
          <a:xfrm rot="0">
            <a:off x="8864528" y="7371258"/>
            <a:ext cx="3970068" cy="356168"/>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Professional Tournament</a:t>
            </a:r>
          </a:p>
        </p:txBody>
      </p:sp>
      <p:sp>
        <p:nvSpPr>
          <p:cNvPr name="TextBox 6" id="6"/>
          <p:cNvSpPr txBox="true"/>
          <p:nvPr/>
        </p:nvSpPr>
        <p:spPr>
          <a:xfrm rot="0">
            <a:off x="12834597" y="7371258"/>
            <a:ext cx="2751871" cy="356168"/>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World Cup</a:t>
            </a:r>
          </a:p>
        </p:txBody>
      </p:sp>
      <p:sp>
        <p:nvSpPr>
          <p:cNvPr name="TextBox 7" id="7"/>
          <p:cNvSpPr txBox="true"/>
          <p:nvPr/>
        </p:nvSpPr>
        <p:spPr>
          <a:xfrm rot="0">
            <a:off x="9473627" y="6588649"/>
            <a:ext cx="2751871" cy="771459"/>
          </a:xfrm>
          <a:prstGeom prst="rect">
            <a:avLst/>
          </a:prstGeom>
        </p:spPr>
        <p:txBody>
          <a:bodyPr anchor="t" rtlCol="false" tIns="0" lIns="0" bIns="0" rIns="0">
            <a:spAutoFit/>
          </a:bodyPr>
          <a:lstStyle/>
          <a:p>
            <a:pPr algn="ctr">
              <a:lnSpc>
                <a:spcPts val="6299"/>
              </a:lnSpc>
            </a:pPr>
            <a:r>
              <a:rPr lang="en-US" sz="4500" b="true">
                <a:solidFill>
                  <a:srgbClr val="FFFFFF"/>
                </a:solidFill>
                <a:latin typeface="Glacial Indifference Bold"/>
                <a:ea typeface="Glacial Indifference Bold"/>
                <a:cs typeface="Glacial Indifference Bold"/>
                <a:sym typeface="Glacial Indifference Bold"/>
              </a:rPr>
              <a:t>25++</a:t>
            </a:r>
          </a:p>
        </p:txBody>
      </p:sp>
      <p:sp>
        <p:nvSpPr>
          <p:cNvPr name="TextBox 8" id="8"/>
          <p:cNvSpPr txBox="true"/>
          <p:nvPr/>
        </p:nvSpPr>
        <p:spPr>
          <a:xfrm rot="0">
            <a:off x="12834597" y="6588649"/>
            <a:ext cx="2751871" cy="771459"/>
          </a:xfrm>
          <a:prstGeom prst="rect">
            <a:avLst/>
          </a:prstGeom>
        </p:spPr>
        <p:txBody>
          <a:bodyPr anchor="t" rtlCol="false" tIns="0" lIns="0" bIns="0" rIns="0">
            <a:spAutoFit/>
          </a:bodyPr>
          <a:lstStyle/>
          <a:p>
            <a:pPr algn="ctr">
              <a:lnSpc>
                <a:spcPts val="6299"/>
              </a:lnSpc>
            </a:pPr>
            <a:r>
              <a:rPr lang="en-US" sz="4500" b="true">
                <a:solidFill>
                  <a:srgbClr val="FFFFFF"/>
                </a:solidFill>
                <a:latin typeface="Glacial Indifference Bold"/>
                <a:ea typeface="Glacial Indifference Bold"/>
                <a:cs typeface="Glacial Indifference Bold"/>
                <a:sym typeface="Glacial Indifference Bold"/>
              </a:rPr>
              <a:t>10</a:t>
            </a:r>
          </a:p>
        </p:txBody>
      </p:sp>
      <p:sp>
        <p:nvSpPr>
          <p:cNvPr name="Freeform 9" id="9"/>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7">
              <a:alphaModFix amt="5000"/>
            </a:blip>
            <a:stretch>
              <a:fillRect l="0" t="0" r="0" b="0"/>
            </a:stretch>
          </a:blipFill>
        </p:spPr>
      </p:sp>
      <p:sp>
        <p:nvSpPr>
          <p:cNvPr name="TextBox 12" id="12"/>
          <p:cNvSpPr txBox="true"/>
          <p:nvPr/>
        </p:nvSpPr>
        <p:spPr>
          <a:xfrm rot="-5400000">
            <a:off x="15023750" y="7022816"/>
            <a:ext cx="4114800" cy="356169"/>
          </a:xfrm>
          <a:prstGeom prst="rect">
            <a:avLst/>
          </a:prstGeom>
        </p:spPr>
        <p:txBody>
          <a:bodyPr anchor="t" rtlCol="false" tIns="0" lIns="0" bIns="0" rIns="0">
            <a:spAutoFit/>
          </a:bodyPr>
          <a:lstStyle/>
          <a:p>
            <a:pPr algn="l">
              <a:lnSpc>
                <a:spcPts val="2940"/>
              </a:lnSpc>
            </a:pPr>
            <a:r>
              <a:rPr lang="en-US" sz="2100" spc="273">
                <a:solidFill>
                  <a:srgbClr val="1D1D1D"/>
                </a:solidFill>
                <a:latin typeface="Montserrat"/>
                <a:ea typeface="Montserrat"/>
                <a:cs typeface="Montserrat"/>
                <a:sym typeface="Montserrat"/>
              </a:rPr>
              <a:t>reallygreatsite.com</a:t>
            </a:r>
          </a:p>
        </p:txBody>
      </p:sp>
      <p:sp>
        <p:nvSpPr>
          <p:cNvPr name="TextBox 13" id="13"/>
          <p:cNvSpPr txBox="true"/>
          <p:nvPr/>
        </p:nvSpPr>
        <p:spPr>
          <a:xfrm rot="-5400000">
            <a:off x="16357054" y="2056314"/>
            <a:ext cx="1448257" cy="356235"/>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10</a:t>
            </a:r>
          </a:p>
        </p:txBody>
      </p:sp>
      <p:sp>
        <p:nvSpPr>
          <p:cNvPr name="TextBox 14" id="14"/>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sp>
        <p:nvSpPr>
          <p:cNvPr name="TextBox 15" id="15"/>
          <p:cNvSpPr txBox="true"/>
          <p:nvPr/>
        </p:nvSpPr>
        <p:spPr>
          <a:xfrm rot="0">
            <a:off x="8984933" y="2298442"/>
            <a:ext cx="7956233" cy="3328034"/>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Study Chess demuestra ser una solución pertinente y factible para el aprendizaje de ajedrez: aborda el problema central ,la dificultad de interpretar salidas técnicas de un motor y transformándolas en retroalimentación pedagógica clara y accionable. Con un MVP alcanzable en un semestre y un stack open-source (React, Firebase, Stockfish, GitHub), el proyecto se puede ejecutar con sprints semanales y control de riesgos (latencia del motor y alcance, mitigados con profundidad ajustada y foco MVP).</a:t>
            </a:r>
          </a:p>
        </p:txBody>
      </p:sp>
      <p:sp>
        <p:nvSpPr>
          <p:cNvPr name="TextBox 16" id="16"/>
          <p:cNvSpPr txBox="true"/>
          <p:nvPr/>
        </p:nvSpPr>
        <p:spPr>
          <a:xfrm rot="0">
            <a:off x="8984933" y="6406602"/>
            <a:ext cx="7956233" cy="369950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Study Chess es un proyecto factible y pertinente que evidencia competencias del perfil (full-stack, cloud, IA, UX, pruebas y gestión ágil), aporta valor pedagógico al mejorar indicadores de aprendizaje y usabilidad, y deja una base sólida para escalar (recomendador con ML, PWA/offline, analítica de progreso y adopción en contextos educativos).</a:t>
            </a:r>
          </a:p>
          <a:p>
            <a:pPr algn="l">
              <a:lnSpc>
                <a:spcPts val="2940"/>
              </a:lnSpc>
            </a:pPr>
          </a:p>
          <a:p>
            <a:pPr algn="l">
              <a:lnSpc>
                <a:spcPts val="2940"/>
              </a:lnSpc>
            </a:pPr>
          </a:p>
          <a:p>
            <a:pPr algn="l">
              <a:lnSpc>
                <a:spcPts val="2940"/>
              </a:lnSpc>
            </a:pPr>
          </a:p>
          <a:p>
            <a:pPr algn="l">
              <a:lnSpc>
                <a:spcPts val="294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5562" y="1610254"/>
            <a:ext cx="8503819" cy="5958138"/>
            <a:chOff x="0" y="0"/>
            <a:chExt cx="11338426" cy="7944184"/>
          </a:xfrm>
        </p:grpSpPr>
        <p:pic>
          <p:nvPicPr>
            <p:cNvPr name="Picture 3" id="3"/>
            <p:cNvPicPr>
              <a:picLocks noChangeAspect="true"/>
            </p:cNvPicPr>
            <p:nvPr/>
          </p:nvPicPr>
          <p:blipFill>
            <a:blip r:embed="rId2"/>
            <a:srcRect l="2454" t="0" r="2454" b="0"/>
            <a:stretch>
              <a:fillRect/>
            </a:stretch>
          </p:blipFill>
          <p:spPr>
            <a:xfrm flipH="false" flipV="false">
              <a:off x="0" y="0"/>
              <a:ext cx="11338426" cy="7944184"/>
            </a:xfrm>
            <a:prstGeom prst="rect">
              <a:avLst/>
            </a:prstGeom>
          </p:spPr>
        </p:pic>
      </p:grpSp>
      <p:sp>
        <p:nvSpPr>
          <p:cNvPr name="Freeform 4" id="4"/>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7">
              <a:alphaModFix amt="5000"/>
            </a:blip>
            <a:stretch>
              <a:fillRect l="0" t="0" r="0" b="0"/>
            </a:stretch>
          </a:blipFill>
        </p:spPr>
      </p:sp>
      <p:sp>
        <p:nvSpPr>
          <p:cNvPr name="Freeform 7" id="7"/>
          <p:cNvSpPr/>
          <p:nvPr/>
        </p:nvSpPr>
        <p:spPr>
          <a:xfrm flipH="false" flipV="false" rot="0">
            <a:off x="8926552" y="6750574"/>
            <a:ext cx="7315200" cy="3245289"/>
          </a:xfrm>
          <a:custGeom>
            <a:avLst/>
            <a:gdLst/>
            <a:ahLst/>
            <a:cxnLst/>
            <a:rect r="r" b="b" t="t" l="l"/>
            <a:pathLst>
              <a:path h="3245289" w="7315200">
                <a:moveTo>
                  <a:pt x="0" y="0"/>
                </a:moveTo>
                <a:lnTo>
                  <a:pt x="7315200" y="0"/>
                </a:lnTo>
                <a:lnTo>
                  <a:pt x="7315200" y="3245288"/>
                </a:lnTo>
                <a:lnTo>
                  <a:pt x="0" y="32452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285562" y="7714286"/>
            <a:ext cx="6245290" cy="2585084"/>
          </a:xfrm>
          <a:prstGeom prst="rect">
            <a:avLst/>
          </a:prstGeom>
        </p:spPr>
        <p:txBody>
          <a:bodyPr anchor="t" rtlCol="false" tIns="0" lIns="0" bIns="0" rIns="0">
            <a:spAutoFit/>
          </a:bodyPr>
          <a:lstStyle/>
          <a:p>
            <a:pPr algn="l" marL="453395" indent="-226697" lvl="1">
              <a:lnSpc>
                <a:spcPts val="2940"/>
              </a:lnSpc>
              <a:buFont typeface="Arial"/>
              <a:buChar char="•"/>
            </a:pPr>
            <a:r>
              <a:rPr lang="en-US" sz="2100">
                <a:solidFill>
                  <a:srgbClr val="1D1D1D"/>
                </a:solidFill>
                <a:latin typeface="Montserrat"/>
                <a:ea typeface="Montserrat"/>
                <a:cs typeface="Montserrat"/>
                <a:sym typeface="Montserrat"/>
              </a:rPr>
              <a:t>Planificación ágil y iteración continua mejoraron el enfoque.</a:t>
            </a:r>
          </a:p>
          <a:p>
            <a:pPr algn="l" marL="453395" indent="-226697" lvl="1">
              <a:lnSpc>
                <a:spcPts val="2940"/>
              </a:lnSpc>
              <a:buFont typeface="Arial"/>
              <a:buChar char="•"/>
            </a:pPr>
            <a:r>
              <a:rPr lang="en-US" sz="2100">
                <a:solidFill>
                  <a:srgbClr val="1D1D1D"/>
                </a:solidFill>
                <a:latin typeface="Montserrat"/>
                <a:ea typeface="Montserrat"/>
                <a:cs typeface="Montserrat"/>
                <a:sym typeface="Montserrat"/>
              </a:rPr>
              <a:t>Aprendizaje clave: traducir salida técnica en valor pedagógico.</a:t>
            </a:r>
          </a:p>
          <a:p>
            <a:pPr algn="l" marL="453395" indent="-226697" lvl="1">
              <a:lnSpc>
                <a:spcPts val="2940"/>
              </a:lnSpc>
              <a:buFont typeface="Arial"/>
              <a:buChar char="•"/>
            </a:pPr>
            <a:r>
              <a:rPr lang="en-US" sz="2100">
                <a:solidFill>
                  <a:srgbClr val="1D1D1D"/>
                </a:solidFill>
                <a:latin typeface="Montserrat"/>
                <a:ea typeface="Montserrat"/>
                <a:cs typeface="Montserrat"/>
                <a:sym typeface="Montserrat"/>
              </a:rPr>
              <a:t>Fort</a:t>
            </a:r>
            <a:r>
              <a:rPr lang="en-US" sz="2100">
                <a:solidFill>
                  <a:srgbClr val="1D1D1D"/>
                </a:solidFill>
                <a:latin typeface="Montserrat"/>
                <a:ea typeface="Montserrat"/>
                <a:cs typeface="Montserrat"/>
                <a:sym typeface="Montserrat"/>
              </a:rPr>
              <a:t>alece mi stack y mi portafolio profesional.</a:t>
            </a:r>
          </a:p>
          <a:p>
            <a:pPr algn="l">
              <a:lnSpc>
                <a:spcPts val="2940"/>
              </a:lnSpc>
            </a:pPr>
          </a:p>
        </p:txBody>
      </p:sp>
      <p:sp>
        <p:nvSpPr>
          <p:cNvPr name="TextBox 9" id="9"/>
          <p:cNvSpPr txBox="true"/>
          <p:nvPr/>
        </p:nvSpPr>
        <p:spPr>
          <a:xfrm rot="0">
            <a:off x="9843413" y="961299"/>
            <a:ext cx="6398340" cy="119380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Reflexión</a:t>
            </a:r>
          </a:p>
        </p:txBody>
      </p:sp>
      <p:sp>
        <p:nvSpPr>
          <p:cNvPr name="TextBox 10" id="10"/>
          <p:cNvSpPr txBox="true"/>
          <p:nvPr/>
        </p:nvSpPr>
        <p:spPr>
          <a:xfrm rot="-5400000">
            <a:off x="15023750" y="7022816"/>
            <a:ext cx="4114800" cy="356169"/>
          </a:xfrm>
          <a:prstGeom prst="rect">
            <a:avLst/>
          </a:prstGeom>
        </p:spPr>
        <p:txBody>
          <a:bodyPr anchor="t" rtlCol="false" tIns="0" lIns="0" bIns="0" rIns="0">
            <a:spAutoFit/>
          </a:bodyPr>
          <a:lstStyle/>
          <a:p>
            <a:pPr algn="l">
              <a:lnSpc>
                <a:spcPts val="2940"/>
              </a:lnSpc>
            </a:pPr>
            <a:r>
              <a:rPr lang="en-US" sz="2100" spc="273">
                <a:solidFill>
                  <a:srgbClr val="1D1D1D"/>
                </a:solidFill>
                <a:latin typeface="Montserrat"/>
                <a:ea typeface="Montserrat"/>
                <a:cs typeface="Montserrat"/>
                <a:sym typeface="Montserrat"/>
              </a:rPr>
              <a:t>reallygreatsite.com</a:t>
            </a:r>
          </a:p>
        </p:txBody>
      </p:sp>
      <p:sp>
        <p:nvSpPr>
          <p:cNvPr name="TextBox 11" id="11"/>
          <p:cNvSpPr txBox="true"/>
          <p:nvPr/>
        </p:nvSpPr>
        <p:spPr>
          <a:xfrm rot="-5400000">
            <a:off x="16357054" y="2056314"/>
            <a:ext cx="1448257" cy="356235"/>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11</a:t>
            </a:r>
          </a:p>
        </p:txBody>
      </p:sp>
      <p:sp>
        <p:nvSpPr>
          <p:cNvPr name="TextBox 12" id="12"/>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sp>
        <p:nvSpPr>
          <p:cNvPr name="TextBox 13" id="13"/>
          <p:cNvSpPr txBox="true"/>
          <p:nvPr/>
        </p:nvSpPr>
        <p:spPr>
          <a:xfrm rot="0">
            <a:off x="9144000" y="3298714"/>
            <a:ext cx="7956233" cy="3328034"/>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Trabajar en Study Chess con planificación ágil e iteraciones cortas me permitió mantener el foco, priorizar el MVP y decidir con evidencia. El aprendizaje central fue transformar la salida técnica del motor en explicaciones pedagógicas útiles para el usuario, conectando tecnología con valor educativo. Este proyecto consolidó mi stack web e IA, fortaleció mis buenas prácticas de ingeniería y documentación, y aportó evidencia concreta a mi portafolio y proyección profesional.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5562" y="1610254"/>
            <a:ext cx="8503819" cy="5958138"/>
            <a:chOff x="0" y="0"/>
            <a:chExt cx="11338426" cy="7944184"/>
          </a:xfrm>
        </p:grpSpPr>
        <p:pic>
          <p:nvPicPr>
            <p:cNvPr name="Picture 3" id="3"/>
            <p:cNvPicPr>
              <a:picLocks noChangeAspect="true"/>
            </p:cNvPicPr>
            <p:nvPr/>
          </p:nvPicPr>
          <p:blipFill>
            <a:blip r:embed="rId2"/>
            <a:srcRect l="13337" t="0" r="13337" b="0"/>
            <a:stretch>
              <a:fillRect/>
            </a:stretch>
          </p:blipFill>
          <p:spPr>
            <a:xfrm flipH="false" flipV="false">
              <a:off x="0" y="0"/>
              <a:ext cx="11338426" cy="7944184"/>
            </a:xfrm>
            <a:prstGeom prst="rect">
              <a:avLst/>
            </a:prstGeom>
          </p:spPr>
        </p:pic>
      </p:grpSp>
      <p:sp>
        <p:nvSpPr>
          <p:cNvPr name="Freeform 4" id="4"/>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317413" y="-7259089"/>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7">
              <a:alphaModFix amt="5000"/>
            </a:blip>
            <a:stretch>
              <a:fillRect l="0" t="0" r="0" b="0"/>
            </a:stretch>
          </a:blipFill>
        </p:spPr>
      </p:sp>
      <p:sp>
        <p:nvSpPr>
          <p:cNvPr name="Freeform 7" id="7"/>
          <p:cNvSpPr/>
          <p:nvPr/>
        </p:nvSpPr>
        <p:spPr>
          <a:xfrm flipH="false" flipV="false" rot="0">
            <a:off x="11474603" y="5091776"/>
            <a:ext cx="1567980" cy="1649519"/>
          </a:xfrm>
          <a:custGeom>
            <a:avLst/>
            <a:gdLst/>
            <a:ahLst/>
            <a:cxnLst/>
            <a:rect r="r" b="b" t="t" l="l"/>
            <a:pathLst>
              <a:path h="1649519" w="1567980">
                <a:moveTo>
                  <a:pt x="0" y="0"/>
                </a:moveTo>
                <a:lnTo>
                  <a:pt x="1567980" y="0"/>
                </a:lnTo>
                <a:lnTo>
                  <a:pt x="1567980" y="1649519"/>
                </a:lnTo>
                <a:lnTo>
                  <a:pt x="0" y="1649519"/>
                </a:lnTo>
                <a:lnTo>
                  <a:pt x="0" y="0"/>
                </a:lnTo>
                <a:close/>
              </a:path>
            </a:pathLst>
          </a:custGeom>
          <a:blipFill>
            <a:blip r:embed="rId8"/>
            <a:stretch>
              <a:fillRect l="-2458" t="-6271" r="-11167" b="0"/>
            </a:stretch>
          </a:blipFill>
        </p:spPr>
      </p:sp>
      <p:sp>
        <p:nvSpPr>
          <p:cNvPr name="Freeform 8" id="8"/>
          <p:cNvSpPr/>
          <p:nvPr/>
        </p:nvSpPr>
        <p:spPr>
          <a:xfrm flipH="false" flipV="false" rot="0">
            <a:off x="10878715" y="2634415"/>
            <a:ext cx="2490526" cy="1400921"/>
          </a:xfrm>
          <a:custGeom>
            <a:avLst/>
            <a:gdLst/>
            <a:ahLst/>
            <a:cxnLst/>
            <a:rect r="r" b="b" t="t" l="l"/>
            <a:pathLst>
              <a:path h="1400921" w="2490526">
                <a:moveTo>
                  <a:pt x="0" y="0"/>
                </a:moveTo>
                <a:lnTo>
                  <a:pt x="2490526" y="0"/>
                </a:lnTo>
                <a:lnTo>
                  <a:pt x="2490526" y="1400921"/>
                </a:lnTo>
                <a:lnTo>
                  <a:pt x="0" y="1400921"/>
                </a:lnTo>
                <a:lnTo>
                  <a:pt x="0" y="0"/>
                </a:lnTo>
                <a:close/>
              </a:path>
            </a:pathLst>
          </a:custGeom>
          <a:blipFill>
            <a:blip r:embed="rId9"/>
            <a:stretch>
              <a:fillRect l="0" t="0" r="0" b="0"/>
            </a:stretch>
          </a:blipFill>
        </p:spPr>
      </p:sp>
      <p:sp>
        <p:nvSpPr>
          <p:cNvPr name="Freeform 9" id="9"/>
          <p:cNvSpPr/>
          <p:nvPr/>
        </p:nvSpPr>
        <p:spPr>
          <a:xfrm flipH="false" flipV="false" rot="0">
            <a:off x="11662704" y="7069244"/>
            <a:ext cx="2440821" cy="883403"/>
          </a:xfrm>
          <a:custGeom>
            <a:avLst/>
            <a:gdLst/>
            <a:ahLst/>
            <a:cxnLst/>
            <a:rect r="r" b="b" t="t" l="l"/>
            <a:pathLst>
              <a:path h="883403" w="2440821">
                <a:moveTo>
                  <a:pt x="0" y="0"/>
                </a:moveTo>
                <a:lnTo>
                  <a:pt x="2440821" y="0"/>
                </a:lnTo>
                <a:lnTo>
                  <a:pt x="2440821" y="883403"/>
                </a:lnTo>
                <a:lnTo>
                  <a:pt x="0" y="883403"/>
                </a:lnTo>
                <a:lnTo>
                  <a:pt x="0" y="0"/>
                </a:lnTo>
                <a:close/>
              </a:path>
            </a:pathLst>
          </a:custGeom>
          <a:blipFill>
            <a:blip r:embed="rId10"/>
            <a:stretch>
              <a:fillRect l="0" t="0" r="-6470" b="0"/>
            </a:stretch>
          </a:blipFill>
        </p:spPr>
      </p:sp>
      <p:sp>
        <p:nvSpPr>
          <p:cNvPr name="Freeform 10" id="10"/>
          <p:cNvSpPr/>
          <p:nvPr/>
        </p:nvSpPr>
        <p:spPr>
          <a:xfrm flipH="false" flipV="false" rot="0">
            <a:off x="10878715" y="3697062"/>
            <a:ext cx="2430608" cy="1194688"/>
          </a:xfrm>
          <a:custGeom>
            <a:avLst/>
            <a:gdLst/>
            <a:ahLst/>
            <a:cxnLst/>
            <a:rect r="r" b="b" t="t" l="l"/>
            <a:pathLst>
              <a:path h="1194688" w="2430608">
                <a:moveTo>
                  <a:pt x="0" y="0"/>
                </a:moveTo>
                <a:lnTo>
                  <a:pt x="2430607" y="0"/>
                </a:lnTo>
                <a:lnTo>
                  <a:pt x="2430607" y="1194689"/>
                </a:lnTo>
                <a:lnTo>
                  <a:pt x="0" y="1194689"/>
                </a:lnTo>
                <a:lnTo>
                  <a:pt x="0" y="0"/>
                </a:lnTo>
                <a:close/>
              </a:path>
            </a:pathLst>
          </a:custGeom>
          <a:blipFill>
            <a:blip r:embed="rId11"/>
            <a:stretch>
              <a:fillRect l="0" t="-577" r="-11609" b="-577"/>
            </a:stretch>
          </a:blipFill>
        </p:spPr>
      </p:sp>
      <p:sp>
        <p:nvSpPr>
          <p:cNvPr name="Freeform 11" id="11"/>
          <p:cNvSpPr/>
          <p:nvPr/>
        </p:nvSpPr>
        <p:spPr>
          <a:xfrm flipH="false" flipV="false" rot="0">
            <a:off x="10768713" y="8152672"/>
            <a:ext cx="2368241" cy="1529489"/>
          </a:xfrm>
          <a:custGeom>
            <a:avLst/>
            <a:gdLst/>
            <a:ahLst/>
            <a:cxnLst/>
            <a:rect r="r" b="b" t="t" l="l"/>
            <a:pathLst>
              <a:path h="1529489" w="2368241">
                <a:moveTo>
                  <a:pt x="0" y="0"/>
                </a:moveTo>
                <a:lnTo>
                  <a:pt x="2368241" y="0"/>
                </a:lnTo>
                <a:lnTo>
                  <a:pt x="2368241" y="1529489"/>
                </a:lnTo>
                <a:lnTo>
                  <a:pt x="0" y="1529489"/>
                </a:lnTo>
                <a:lnTo>
                  <a:pt x="0" y="0"/>
                </a:lnTo>
                <a:close/>
              </a:path>
            </a:pathLst>
          </a:custGeom>
          <a:blipFill>
            <a:blip r:embed="rId12"/>
            <a:stretch>
              <a:fillRect l="0" t="0" r="0" b="0"/>
            </a:stretch>
          </a:blipFill>
        </p:spPr>
      </p:sp>
      <p:sp>
        <p:nvSpPr>
          <p:cNvPr name="TextBox 12" id="12"/>
          <p:cNvSpPr txBox="true"/>
          <p:nvPr/>
        </p:nvSpPr>
        <p:spPr>
          <a:xfrm rot="0">
            <a:off x="9843413" y="961299"/>
            <a:ext cx="6398340" cy="1193802"/>
          </a:xfrm>
          <a:prstGeom prst="rect">
            <a:avLst/>
          </a:prstGeom>
        </p:spPr>
        <p:txBody>
          <a:bodyPr anchor="t" rtlCol="false" tIns="0" lIns="0" bIns="0" rIns="0">
            <a:spAutoFit/>
          </a:bodyPr>
          <a:lstStyle/>
          <a:p>
            <a:pPr algn="l">
              <a:lnSpc>
                <a:spcPts val="9799"/>
              </a:lnSpc>
            </a:pPr>
            <a:r>
              <a:rPr lang="en-US" sz="6999" b="true">
                <a:solidFill>
                  <a:srgbClr val="1D1D1D"/>
                </a:solidFill>
                <a:latin typeface="Glacial Indifference Bold"/>
                <a:ea typeface="Glacial Indifference Bold"/>
                <a:cs typeface="Glacial Indifference Bold"/>
                <a:sym typeface="Glacial Indifference Bold"/>
              </a:rPr>
              <a:t>Bibliografía</a:t>
            </a:r>
          </a:p>
        </p:txBody>
      </p:sp>
      <p:sp>
        <p:nvSpPr>
          <p:cNvPr name="TextBox 13" id="13"/>
          <p:cNvSpPr txBox="true"/>
          <p:nvPr/>
        </p:nvSpPr>
        <p:spPr>
          <a:xfrm rot="-5400000">
            <a:off x="16542792" y="1870577"/>
            <a:ext cx="1448257" cy="727710"/>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12</a:t>
            </a:r>
          </a:p>
          <a:p>
            <a:pPr algn="r">
              <a:lnSpc>
                <a:spcPts val="2940"/>
              </a:lnSpc>
            </a:pPr>
          </a:p>
        </p:txBody>
      </p:sp>
      <p:sp>
        <p:nvSpPr>
          <p:cNvPr name="TextBox 14" id="14"/>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sp>
        <p:nvSpPr>
          <p:cNvPr name="TextBox 15" id="15"/>
          <p:cNvSpPr txBox="true"/>
          <p:nvPr/>
        </p:nvSpPr>
        <p:spPr>
          <a:xfrm rot="0">
            <a:off x="9231242" y="2577265"/>
            <a:ext cx="1340226" cy="999193"/>
          </a:xfrm>
          <a:prstGeom prst="rect">
            <a:avLst/>
          </a:prstGeom>
        </p:spPr>
        <p:txBody>
          <a:bodyPr anchor="t" rtlCol="false" tIns="0" lIns="0" bIns="0" rIns="0">
            <a:spAutoFit/>
          </a:bodyPr>
          <a:lstStyle/>
          <a:p>
            <a:pPr algn="l">
              <a:lnSpc>
                <a:spcPts val="4016"/>
              </a:lnSpc>
            </a:pPr>
          </a:p>
          <a:p>
            <a:pPr algn="l">
              <a:lnSpc>
                <a:spcPts val="4016"/>
              </a:lnSpc>
            </a:pPr>
            <a:r>
              <a:rPr lang="en-US" sz="2868">
                <a:solidFill>
                  <a:srgbClr val="1D1D1D"/>
                </a:solidFill>
                <a:latin typeface="Montserrat"/>
                <a:ea typeface="Montserrat"/>
                <a:cs typeface="Montserrat"/>
                <a:sym typeface="Montserrat"/>
              </a:rPr>
              <a:t>React </a:t>
            </a:r>
          </a:p>
        </p:txBody>
      </p:sp>
      <p:sp>
        <p:nvSpPr>
          <p:cNvPr name="TextBox 16" id="16"/>
          <p:cNvSpPr txBox="true"/>
          <p:nvPr/>
        </p:nvSpPr>
        <p:spPr>
          <a:xfrm rot="0">
            <a:off x="9144000" y="4182364"/>
            <a:ext cx="1734715" cy="491739"/>
          </a:xfrm>
          <a:prstGeom prst="rect">
            <a:avLst/>
          </a:prstGeom>
        </p:spPr>
        <p:txBody>
          <a:bodyPr anchor="t" rtlCol="false" tIns="0" lIns="0" bIns="0" rIns="0">
            <a:spAutoFit/>
          </a:bodyPr>
          <a:lstStyle/>
          <a:p>
            <a:pPr algn="l">
              <a:lnSpc>
                <a:spcPts val="4016"/>
              </a:lnSpc>
            </a:pPr>
            <a:r>
              <a:rPr lang="en-US" sz="2868">
                <a:solidFill>
                  <a:srgbClr val="1D1D1D"/>
                </a:solidFill>
                <a:latin typeface="Montserrat"/>
                <a:ea typeface="Montserrat"/>
                <a:cs typeface="Montserrat"/>
                <a:sym typeface="Montserrat"/>
              </a:rPr>
              <a:t>Firebase</a:t>
            </a:r>
          </a:p>
        </p:txBody>
      </p:sp>
      <p:sp>
        <p:nvSpPr>
          <p:cNvPr name="TextBox 17" id="17"/>
          <p:cNvSpPr txBox="true"/>
          <p:nvPr/>
        </p:nvSpPr>
        <p:spPr>
          <a:xfrm rot="0">
            <a:off x="9033998" y="5642091"/>
            <a:ext cx="1734715" cy="491739"/>
          </a:xfrm>
          <a:prstGeom prst="rect">
            <a:avLst/>
          </a:prstGeom>
        </p:spPr>
        <p:txBody>
          <a:bodyPr anchor="t" rtlCol="false" tIns="0" lIns="0" bIns="0" rIns="0">
            <a:spAutoFit/>
          </a:bodyPr>
          <a:lstStyle/>
          <a:p>
            <a:pPr algn="l">
              <a:lnSpc>
                <a:spcPts val="4016"/>
              </a:lnSpc>
            </a:pPr>
            <a:r>
              <a:rPr lang="en-US" sz="2868">
                <a:solidFill>
                  <a:srgbClr val="1D1D1D"/>
                </a:solidFill>
                <a:latin typeface="Montserrat"/>
                <a:ea typeface="Montserrat"/>
                <a:cs typeface="Montserrat"/>
                <a:sym typeface="Montserrat"/>
              </a:rPr>
              <a:t>Stockfish</a:t>
            </a:r>
          </a:p>
        </p:txBody>
      </p:sp>
      <p:sp>
        <p:nvSpPr>
          <p:cNvPr name="TextBox 18" id="18"/>
          <p:cNvSpPr txBox="true"/>
          <p:nvPr/>
        </p:nvSpPr>
        <p:spPr>
          <a:xfrm rot="0">
            <a:off x="9144000" y="6672728"/>
            <a:ext cx="2653319" cy="999193"/>
          </a:xfrm>
          <a:prstGeom prst="rect">
            <a:avLst/>
          </a:prstGeom>
        </p:spPr>
        <p:txBody>
          <a:bodyPr anchor="t" rtlCol="false" tIns="0" lIns="0" bIns="0" rIns="0">
            <a:spAutoFit/>
          </a:bodyPr>
          <a:lstStyle/>
          <a:p>
            <a:pPr algn="l">
              <a:lnSpc>
                <a:spcPts val="4016"/>
              </a:lnSpc>
            </a:pPr>
          </a:p>
          <a:p>
            <a:pPr algn="l">
              <a:lnSpc>
                <a:spcPts val="4016"/>
              </a:lnSpc>
            </a:pPr>
            <a:r>
              <a:rPr lang="en-US" sz="2868">
                <a:solidFill>
                  <a:srgbClr val="1D1D1D"/>
                </a:solidFill>
                <a:latin typeface="Montserrat"/>
                <a:ea typeface="Montserrat"/>
                <a:cs typeface="Montserrat"/>
                <a:sym typeface="Montserrat"/>
              </a:rPr>
              <a:t>Scrum Guide  </a:t>
            </a:r>
          </a:p>
        </p:txBody>
      </p:sp>
      <p:sp>
        <p:nvSpPr>
          <p:cNvPr name="TextBox 19" id="19"/>
          <p:cNvSpPr txBox="true"/>
          <p:nvPr/>
        </p:nvSpPr>
        <p:spPr>
          <a:xfrm rot="0">
            <a:off x="9144000" y="8205322"/>
            <a:ext cx="1340226" cy="999193"/>
          </a:xfrm>
          <a:prstGeom prst="rect">
            <a:avLst/>
          </a:prstGeom>
        </p:spPr>
        <p:txBody>
          <a:bodyPr anchor="t" rtlCol="false" tIns="0" lIns="0" bIns="0" rIns="0">
            <a:spAutoFit/>
          </a:bodyPr>
          <a:lstStyle/>
          <a:p>
            <a:pPr algn="l">
              <a:lnSpc>
                <a:spcPts val="4016"/>
              </a:lnSpc>
            </a:pPr>
          </a:p>
          <a:p>
            <a:pPr algn="l">
              <a:lnSpc>
                <a:spcPts val="4016"/>
              </a:lnSpc>
            </a:pPr>
            <a:r>
              <a:rPr lang="en-US" sz="2868">
                <a:solidFill>
                  <a:srgbClr val="1D1D1D"/>
                </a:solidFill>
                <a:latin typeface="Montserrat"/>
                <a:ea typeface="Montserrat"/>
                <a:cs typeface="Montserrat"/>
                <a:sym typeface="Montserrat"/>
              </a:rPr>
              <a:t>FIDE </a:t>
            </a:r>
          </a:p>
        </p:txBody>
      </p:sp>
      <p:sp>
        <p:nvSpPr>
          <p:cNvPr name="TextBox 20" id="20"/>
          <p:cNvSpPr txBox="true"/>
          <p:nvPr/>
        </p:nvSpPr>
        <p:spPr>
          <a:xfrm rot="0">
            <a:off x="14034629" y="3130010"/>
            <a:ext cx="4253371" cy="423069"/>
          </a:xfrm>
          <a:prstGeom prst="rect">
            <a:avLst/>
          </a:prstGeom>
        </p:spPr>
        <p:txBody>
          <a:bodyPr anchor="t" rtlCol="false" tIns="0" lIns="0" bIns="0" rIns="0">
            <a:spAutoFit/>
          </a:bodyPr>
          <a:lstStyle/>
          <a:p>
            <a:pPr algn="l">
              <a:lnSpc>
                <a:spcPts val="3456"/>
              </a:lnSpc>
            </a:pPr>
            <a:r>
              <a:rPr lang="en-US" sz="2468">
                <a:solidFill>
                  <a:srgbClr val="1D1D1D"/>
                </a:solidFill>
                <a:latin typeface="Montserrat"/>
                <a:ea typeface="Montserrat"/>
                <a:cs typeface="Montserrat"/>
                <a:sym typeface="Montserrat"/>
              </a:rPr>
              <a:t> https://react.dev/learn</a:t>
            </a:r>
          </a:p>
        </p:txBody>
      </p:sp>
      <p:sp>
        <p:nvSpPr>
          <p:cNvPr name="TextBox 21" id="21"/>
          <p:cNvSpPr txBox="true"/>
          <p:nvPr/>
        </p:nvSpPr>
        <p:spPr>
          <a:xfrm rot="0">
            <a:off x="14034629" y="4343720"/>
            <a:ext cx="4253371" cy="861219"/>
          </a:xfrm>
          <a:prstGeom prst="rect">
            <a:avLst/>
          </a:prstGeom>
        </p:spPr>
        <p:txBody>
          <a:bodyPr anchor="t" rtlCol="false" tIns="0" lIns="0" bIns="0" rIns="0">
            <a:spAutoFit/>
          </a:bodyPr>
          <a:lstStyle/>
          <a:p>
            <a:pPr algn="l">
              <a:lnSpc>
                <a:spcPts val="3456"/>
              </a:lnSpc>
            </a:pPr>
            <a:r>
              <a:rPr lang="en-US" sz="2468">
                <a:solidFill>
                  <a:srgbClr val="1D1D1D"/>
                </a:solidFill>
                <a:latin typeface="Montserrat"/>
                <a:ea typeface="Montserrat"/>
                <a:cs typeface="Montserrat"/>
                <a:sym typeface="Montserrat"/>
              </a:rPr>
              <a:t>https://firebase.google.com/docs</a:t>
            </a:r>
          </a:p>
        </p:txBody>
      </p:sp>
      <p:sp>
        <p:nvSpPr>
          <p:cNvPr name="TextBox 22" id="22"/>
          <p:cNvSpPr txBox="true"/>
          <p:nvPr/>
        </p:nvSpPr>
        <p:spPr>
          <a:xfrm rot="0">
            <a:off x="14115067" y="5681189"/>
            <a:ext cx="4253371" cy="861219"/>
          </a:xfrm>
          <a:prstGeom prst="rect">
            <a:avLst/>
          </a:prstGeom>
        </p:spPr>
        <p:txBody>
          <a:bodyPr anchor="t" rtlCol="false" tIns="0" lIns="0" bIns="0" rIns="0">
            <a:spAutoFit/>
          </a:bodyPr>
          <a:lstStyle/>
          <a:p>
            <a:pPr algn="l">
              <a:lnSpc>
                <a:spcPts val="3456"/>
              </a:lnSpc>
            </a:pPr>
            <a:r>
              <a:rPr lang="en-US" sz="2468">
                <a:solidFill>
                  <a:srgbClr val="1D1D1D"/>
                </a:solidFill>
                <a:latin typeface="Montserrat"/>
                <a:ea typeface="Montserrat"/>
                <a:cs typeface="Montserrat"/>
                <a:sym typeface="Montserrat"/>
              </a:rPr>
              <a:t>https://github.com/official-stockfish/Stockfish</a:t>
            </a:r>
          </a:p>
        </p:txBody>
      </p:sp>
      <p:sp>
        <p:nvSpPr>
          <p:cNvPr name="TextBox 23" id="23"/>
          <p:cNvSpPr txBox="true"/>
          <p:nvPr/>
        </p:nvSpPr>
        <p:spPr>
          <a:xfrm rot="0">
            <a:off x="14103525" y="7333045"/>
            <a:ext cx="4253371" cy="423069"/>
          </a:xfrm>
          <a:prstGeom prst="rect">
            <a:avLst/>
          </a:prstGeom>
        </p:spPr>
        <p:txBody>
          <a:bodyPr anchor="t" rtlCol="false" tIns="0" lIns="0" bIns="0" rIns="0">
            <a:spAutoFit/>
          </a:bodyPr>
          <a:lstStyle/>
          <a:p>
            <a:pPr algn="l">
              <a:lnSpc>
                <a:spcPts val="3456"/>
              </a:lnSpc>
            </a:pPr>
            <a:r>
              <a:rPr lang="en-US" sz="2468">
                <a:solidFill>
                  <a:srgbClr val="1D1D1D"/>
                </a:solidFill>
                <a:latin typeface="Montserrat"/>
                <a:ea typeface="Montserrat"/>
                <a:cs typeface="Montserrat"/>
                <a:sym typeface="Montserrat"/>
              </a:rPr>
              <a:t>https://scrumguides.org/</a:t>
            </a:r>
          </a:p>
        </p:txBody>
      </p:sp>
      <p:sp>
        <p:nvSpPr>
          <p:cNvPr name="TextBox 24" id="24"/>
          <p:cNvSpPr txBox="true"/>
          <p:nvPr/>
        </p:nvSpPr>
        <p:spPr>
          <a:xfrm rot="0">
            <a:off x="14115067" y="8570548"/>
            <a:ext cx="4253371" cy="861219"/>
          </a:xfrm>
          <a:prstGeom prst="rect">
            <a:avLst/>
          </a:prstGeom>
        </p:spPr>
        <p:txBody>
          <a:bodyPr anchor="t" rtlCol="false" tIns="0" lIns="0" bIns="0" rIns="0">
            <a:spAutoFit/>
          </a:bodyPr>
          <a:lstStyle/>
          <a:p>
            <a:pPr algn="l">
              <a:lnSpc>
                <a:spcPts val="3456"/>
              </a:lnSpc>
            </a:pPr>
            <a:r>
              <a:rPr lang="en-US" sz="2468">
                <a:solidFill>
                  <a:srgbClr val="1D1D1D"/>
                </a:solidFill>
                <a:latin typeface="Montserrat"/>
                <a:ea typeface="Montserrat"/>
                <a:cs typeface="Montserrat"/>
                <a:sym typeface="Montserrat"/>
              </a:rPr>
              <a:t>https://handbook.fide.com/chapter/e012023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406" t="0" r="-15406" b="0"/>
            </a:stretch>
          </a:blipFill>
        </p:spPr>
      </p:sp>
      <p:sp>
        <p:nvSpPr>
          <p:cNvPr name="Freeform 3" id="3"/>
          <p:cNvSpPr/>
          <p:nvPr/>
        </p:nvSpPr>
        <p:spPr>
          <a:xfrm flipH="false" flipV="false" rot="0">
            <a:off x="863452" y="786953"/>
            <a:ext cx="501946" cy="685251"/>
          </a:xfrm>
          <a:custGeom>
            <a:avLst/>
            <a:gdLst/>
            <a:ahLst/>
            <a:cxnLst/>
            <a:rect r="r" b="b" t="t" l="l"/>
            <a:pathLst>
              <a:path h="685251" w="501946">
                <a:moveTo>
                  <a:pt x="0" y="0"/>
                </a:moveTo>
                <a:lnTo>
                  <a:pt x="501946" y="0"/>
                </a:lnTo>
                <a:lnTo>
                  <a:pt x="501946" y="685251"/>
                </a:lnTo>
                <a:lnTo>
                  <a:pt x="0" y="685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941165" y="970511"/>
            <a:ext cx="318135" cy="318135"/>
          </a:xfrm>
          <a:custGeom>
            <a:avLst/>
            <a:gdLst/>
            <a:ahLst/>
            <a:cxnLst/>
            <a:rect r="r" b="b" t="t" l="l"/>
            <a:pathLst>
              <a:path h="318135" w="318135">
                <a:moveTo>
                  <a:pt x="0" y="0"/>
                </a:moveTo>
                <a:lnTo>
                  <a:pt x="318135" y="0"/>
                </a:lnTo>
                <a:lnTo>
                  <a:pt x="318135" y="318135"/>
                </a:lnTo>
                <a:lnTo>
                  <a:pt x="0" y="3181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493402" y="-5965438"/>
            <a:ext cx="8344335" cy="8229600"/>
          </a:xfrm>
          <a:custGeom>
            <a:avLst/>
            <a:gdLst/>
            <a:ahLst/>
            <a:cxnLst/>
            <a:rect r="r" b="b" t="t" l="l"/>
            <a:pathLst>
              <a:path h="8229600" w="8344335">
                <a:moveTo>
                  <a:pt x="0" y="0"/>
                </a:moveTo>
                <a:lnTo>
                  <a:pt x="8344334" y="0"/>
                </a:lnTo>
                <a:lnTo>
                  <a:pt x="8344334" y="8229600"/>
                </a:lnTo>
                <a:lnTo>
                  <a:pt x="0" y="8229600"/>
                </a:lnTo>
                <a:lnTo>
                  <a:pt x="0" y="0"/>
                </a:lnTo>
                <a:close/>
              </a:path>
            </a:pathLst>
          </a:custGeom>
          <a:blipFill>
            <a:blip r:embed="rId7">
              <a:alphaModFix amt="5000"/>
            </a:blip>
            <a:stretch>
              <a:fillRect l="0" t="0" r="0" b="0"/>
            </a:stretch>
          </a:blipFill>
        </p:spPr>
      </p:sp>
      <p:sp>
        <p:nvSpPr>
          <p:cNvPr name="Freeform 6" id="6"/>
          <p:cNvSpPr/>
          <p:nvPr/>
        </p:nvSpPr>
        <p:spPr>
          <a:xfrm flipH="false" flipV="false" rot="0">
            <a:off x="-850933" y="9277350"/>
            <a:ext cx="8344335" cy="8229600"/>
          </a:xfrm>
          <a:custGeom>
            <a:avLst/>
            <a:gdLst/>
            <a:ahLst/>
            <a:cxnLst/>
            <a:rect r="r" b="b" t="t" l="l"/>
            <a:pathLst>
              <a:path h="8229600" w="8344335">
                <a:moveTo>
                  <a:pt x="0" y="0"/>
                </a:moveTo>
                <a:lnTo>
                  <a:pt x="8344335" y="0"/>
                </a:lnTo>
                <a:lnTo>
                  <a:pt x="8344335" y="8229600"/>
                </a:lnTo>
                <a:lnTo>
                  <a:pt x="0" y="8229600"/>
                </a:lnTo>
                <a:lnTo>
                  <a:pt x="0" y="0"/>
                </a:lnTo>
                <a:close/>
              </a:path>
            </a:pathLst>
          </a:custGeom>
          <a:blipFill>
            <a:blip r:embed="rId7">
              <a:alphaModFix amt="5000"/>
            </a:blip>
            <a:stretch>
              <a:fillRect l="0" t="0" r="0" b="0"/>
            </a:stretch>
          </a:blipFill>
        </p:spPr>
      </p:sp>
      <p:sp>
        <p:nvSpPr>
          <p:cNvPr name="TextBox 7" id="7"/>
          <p:cNvSpPr txBox="true"/>
          <p:nvPr/>
        </p:nvSpPr>
        <p:spPr>
          <a:xfrm rot="0">
            <a:off x="-850933" y="2355520"/>
            <a:ext cx="9545401" cy="2505717"/>
          </a:xfrm>
          <a:prstGeom prst="rect">
            <a:avLst/>
          </a:prstGeom>
        </p:spPr>
        <p:txBody>
          <a:bodyPr anchor="t" rtlCol="false" tIns="0" lIns="0" bIns="0" rIns="0">
            <a:spAutoFit/>
          </a:bodyPr>
          <a:lstStyle/>
          <a:p>
            <a:pPr algn="r">
              <a:lnSpc>
                <a:spcPts val="20439"/>
              </a:lnSpc>
            </a:pPr>
            <a:r>
              <a:rPr lang="en-US" b="true" sz="14599">
                <a:solidFill>
                  <a:srgbClr val="1D1D1D"/>
                </a:solidFill>
                <a:latin typeface="Glacial Indifference Bold"/>
                <a:ea typeface="Glacial Indifference Bold"/>
                <a:cs typeface="Glacial Indifference Bold"/>
                <a:sym typeface="Glacial Indifference Bold"/>
              </a:rPr>
              <a:t>MUCHAS</a:t>
            </a:r>
          </a:p>
        </p:txBody>
      </p:sp>
      <p:sp>
        <p:nvSpPr>
          <p:cNvPr name="TextBox 8" id="8"/>
          <p:cNvSpPr txBox="true"/>
          <p:nvPr/>
        </p:nvSpPr>
        <p:spPr>
          <a:xfrm rot="0">
            <a:off x="8694468" y="2327963"/>
            <a:ext cx="8764320" cy="2505717"/>
          </a:xfrm>
          <a:prstGeom prst="rect">
            <a:avLst/>
          </a:prstGeom>
        </p:spPr>
        <p:txBody>
          <a:bodyPr anchor="t" rtlCol="false" tIns="0" lIns="0" bIns="0" rIns="0">
            <a:spAutoFit/>
          </a:bodyPr>
          <a:lstStyle/>
          <a:p>
            <a:pPr algn="l">
              <a:lnSpc>
                <a:spcPts val="20439"/>
              </a:lnSpc>
            </a:pPr>
            <a:r>
              <a:rPr lang="en-US" sz="14599" b="true">
                <a:solidFill>
                  <a:srgbClr val="03989E"/>
                </a:solidFill>
                <a:latin typeface="Glacial Indifference Bold"/>
                <a:ea typeface="Glacial Indifference Bold"/>
                <a:cs typeface="Glacial Indifference Bold"/>
                <a:sym typeface="Glacial Indifference Bold"/>
              </a:rPr>
              <a:t>GRACIAS</a:t>
            </a:r>
          </a:p>
        </p:txBody>
      </p:sp>
      <p:sp>
        <p:nvSpPr>
          <p:cNvPr name="TextBox 9" id="9"/>
          <p:cNvSpPr txBox="true"/>
          <p:nvPr/>
        </p:nvSpPr>
        <p:spPr>
          <a:xfrm rot="0">
            <a:off x="3087483" y="5649539"/>
            <a:ext cx="11379298" cy="727577"/>
          </a:xfrm>
          <a:prstGeom prst="rect">
            <a:avLst/>
          </a:prstGeom>
        </p:spPr>
        <p:txBody>
          <a:bodyPr anchor="t" rtlCol="false" tIns="0" lIns="0" bIns="0" rIns="0">
            <a:spAutoFit/>
          </a:bodyPr>
          <a:lstStyle/>
          <a:p>
            <a:pPr algn="ctr">
              <a:lnSpc>
                <a:spcPts val="2940"/>
              </a:lnSpc>
            </a:pPr>
            <a:r>
              <a:rPr lang="en-US" sz="2100">
                <a:solidFill>
                  <a:srgbClr val="1D1D1D"/>
                </a:solidFill>
                <a:latin typeface="Montserrat"/>
                <a:ea typeface="Montserrat"/>
                <a:cs typeface="Montserrat"/>
                <a:sym typeface="Montserrat"/>
              </a:rPr>
              <a:t>Presentations are tools that can be used as lectures, speeches, reports, and more. It is mostly presented like before an audience Presentations are tools </a:t>
            </a:r>
          </a:p>
        </p:txBody>
      </p:sp>
      <p:sp>
        <p:nvSpPr>
          <p:cNvPr name="TextBox 10" id="10"/>
          <p:cNvSpPr txBox="true"/>
          <p:nvPr/>
        </p:nvSpPr>
        <p:spPr>
          <a:xfrm rot="-5400000">
            <a:off x="16188038" y="2225331"/>
            <a:ext cx="1786289" cy="356235"/>
          </a:xfrm>
          <a:prstGeom prst="rect">
            <a:avLst/>
          </a:prstGeom>
        </p:spPr>
        <p:txBody>
          <a:bodyPr anchor="t" rtlCol="false" tIns="0" lIns="0" bIns="0" rIns="0">
            <a:spAutoFit/>
          </a:bodyPr>
          <a:lstStyle/>
          <a:p>
            <a:pPr algn="r">
              <a:lnSpc>
                <a:spcPts val="2940"/>
              </a:lnSpc>
            </a:pPr>
            <a:r>
              <a:rPr lang="en-US" b="true" sz="2100">
                <a:solidFill>
                  <a:srgbClr val="1D1D1D"/>
                </a:solidFill>
                <a:latin typeface="Montserrat Bold"/>
                <a:ea typeface="Montserrat Bold"/>
                <a:cs typeface="Montserrat Bold"/>
                <a:sym typeface="Montserrat Bold"/>
              </a:rPr>
              <a:t>PAGE 13</a:t>
            </a:r>
          </a:p>
        </p:txBody>
      </p:sp>
      <p:grpSp>
        <p:nvGrpSpPr>
          <p:cNvPr name="Group 11" id="11"/>
          <p:cNvGrpSpPr/>
          <p:nvPr/>
        </p:nvGrpSpPr>
        <p:grpSpPr>
          <a:xfrm rot="0">
            <a:off x="2050807" y="4867480"/>
            <a:ext cx="14186385" cy="3019274"/>
            <a:chOff x="0" y="0"/>
            <a:chExt cx="18915180" cy="4025698"/>
          </a:xfrm>
        </p:grpSpPr>
        <p:pic>
          <p:nvPicPr>
            <p:cNvPr name="Picture 12" id="12"/>
            <p:cNvPicPr>
              <a:picLocks noChangeAspect="true"/>
            </p:cNvPicPr>
            <p:nvPr/>
          </p:nvPicPr>
          <p:blipFill>
            <a:blip r:embed="rId8"/>
            <a:srcRect l="0" t="41928" r="0" b="27828"/>
            <a:stretch>
              <a:fillRect/>
            </a:stretch>
          </p:blipFill>
          <p:spPr>
            <a:xfrm flipH="false" flipV="false">
              <a:off x="0" y="0"/>
              <a:ext cx="18915180" cy="4025698"/>
            </a:xfrm>
            <a:prstGeom prst="rect">
              <a:avLst/>
            </a:prstGeom>
          </p:spPr>
        </p:pic>
      </p:grpSp>
      <p:sp>
        <p:nvSpPr>
          <p:cNvPr name="Freeform 13" id="13"/>
          <p:cNvSpPr/>
          <p:nvPr/>
        </p:nvSpPr>
        <p:spPr>
          <a:xfrm flipH="false" flipV="false" rot="0">
            <a:off x="0" y="8310198"/>
            <a:ext cx="1756883" cy="1976802"/>
          </a:xfrm>
          <a:custGeom>
            <a:avLst/>
            <a:gdLst/>
            <a:ahLst/>
            <a:cxnLst/>
            <a:rect r="r" b="b" t="t" l="l"/>
            <a:pathLst>
              <a:path h="1976802" w="1756883">
                <a:moveTo>
                  <a:pt x="0" y="0"/>
                </a:moveTo>
                <a:lnTo>
                  <a:pt x="1756883" y="0"/>
                </a:lnTo>
                <a:lnTo>
                  <a:pt x="1756883" y="1976802"/>
                </a:lnTo>
                <a:lnTo>
                  <a:pt x="0" y="19768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756883" y="932411"/>
            <a:ext cx="1995612" cy="356169"/>
          </a:xfrm>
          <a:prstGeom prst="rect">
            <a:avLst/>
          </a:prstGeom>
        </p:spPr>
        <p:txBody>
          <a:bodyPr anchor="t" rtlCol="false" tIns="0" lIns="0" bIns="0" rIns="0">
            <a:spAutoFit/>
          </a:bodyPr>
          <a:lstStyle/>
          <a:p>
            <a:pPr algn="l">
              <a:lnSpc>
                <a:spcPts val="2940"/>
              </a:lnSpc>
            </a:pPr>
            <a:r>
              <a:rPr lang="en-US" sz="2100">
                <a:solidFill>
                  <a:srgbClr val="1D1D1D"/>
                </a:solidFill>
                <a:latin typeface="Montserrat"/>
                <a:ea typeface="Montserrat"/>
                <a:cs typeface="Montserrat"/>
                <a:sym typeface="Montserrat"/>
              </a:rPr>
              <a:t>Chess Events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DAGy_XBQHk8</dc:identifier>
  <dcterms:modified xsi:type="dcterms:W3CDTF">2011-08-01T06:04:30Z</dcterms:modified>
  <cp:revision>1</cp:revision>
  <dc:title>Turquoise Chess Game Presentation Template</dc:title>
</cp:coreProperties>
</file>